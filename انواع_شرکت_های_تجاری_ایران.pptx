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-548640"/>
            <a:ext cx="2743200" cy="2743200"/>
          </a:xfrm>
          <a:prstGeom prst="ellipse">
            <a:avLst/>
          </a:prstGeom>
          <a:solidFill>
            <a:srgbClr val="0F2B52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0F2B52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-914400"/>
            <a:ext cx="1828800" cy="1828800"/>
          </a:xfrm>
          <a:prstGeom prst="ellipse">
            <a:avLst/>
          </a:prstGeom>
          <a:solidFill>
            <a:srgbClr val="133A6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914400" y="5303520"/>
            <a:ext cx="274320" cy="27432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463040" y="5669280"/>
            <a:ext cx="182880" cy="182880"/>
          </a:xfrm>
          <a:prstGeom prst="diamond">
            <a:avLst/>
          </a:prstGeom>
          <a:solidFill>
            <a:srgbClr val="5BA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0972800" y="914400"/>
            <a:ext cx="228600" cy="22860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182880"/>
            <a:ext cx="1097280" cy="1005840"/>
          </a:xfrm>
          <a:prstGeom prst="hexag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601200" y="731520"/>
            <a:ext cx="731520" cy="640080"/>
          </a:xfrm>
          <a:prstGeom prst="hexagon">
            <a:avLst/>
          </a:prstGeom>
          <a:solidFill>
            <a:srgbClr val="2F7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91440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5000" b="1">
                <a:solidFill>
                  <a:srgbClr val="FFFFFF"/>
                </a:solidFill>
                <a:latin typeface="B Nazanin"/>
              </a:rPr>
              <a:t>انواع شرکت‌های تجاری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4400" b="1">
                <a:solidFill>
                  <a:srgbClr val="00B8A9"/>
                </a:solidFill>
                <a:latin typeface="B Nazanin"/>
              </a:rPr>
              <a:t>متداول در ایران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017520"/>
            <a:ext cx="3962095" cy="64008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29184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900" b="0">
                <a:solidFill>
                  <a:srgbClr val="BBDEFB"/>
                </a:solidFill>
                <a:latin typeface="B Nazanin"/>
              </a:rPr>
              <a:t>بررسی ساختار، ویژگی‌ها و کاربرد شرکت‌های تجاری در حقوق تجارت ایران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4206240"/>
            <a:ext cx="4510735" cy="594360"/>
          </a:xfrm>
          <a:prstGeom prst="round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251960"/>
            <a:ext cx="4327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0">
                <a:solidFill>
                  <a:srgbClr val="5BA3F5"/>
                </a:solidFill>
                <a:latin typeface="B Nazanin"/>
              </a:rPr>
              <a:t>درس کارآفرینی  ◈  دانشکده مهندسی کامپیوتر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120640"/>
            <a:ext cx="5790895" cy="1280160"/>
          </a:xfrm>
          <a:prstGeom prst="roundRect">
            <a:avLst/>
          </a:prstGeom>
          <a:solidFill>
            <a:srgbClr val="0D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5120640"/>
            <a:ext cx="5790895" cy="457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212080"/>
            <a:ext cx="5425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00B8A9"/>
                </a:solidFill>
                <a:latin typeface="B Nazanin"/>
              </a:rPr>
              <a:t>:ارائه‌دهندگان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623560"/>
            <a:ext cx="5425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200" b="1">
                <a:solidFill>
                  <a:srgbClr val="FFFFFF"/>
                </a:solidFill>
                <a:latin typeface="B Nazanin"/>
              </a:rPr>
              <a:t>قربانعلی</a:t>
            </a:r>
            <a:r>
              <a:rPr sz="1600">
                <a:solidFill>
                  <a:srgbClr val="00B8A9"/>
                </a:solidFill>
                <a:latin typeface="B Nazanin"/>
              </a:rPr>
              <a:t>   ◈   </a:t>
            </a:r>
            <a:r>
              <a:rPr sz="2200" b="1">
                <a:solidFill>
                  <a:srgbClr val="FFFFFF"/>
                </a:solidFill>
                <a:latin typeface="B Nazanin"/>
              </a:rPr>
              <a:t>فهیمی</a:t>
            </a:r>
            <a:r>
              <a:rPr sz="1600">
                <a:solidFill>
                  <a:srgbClr val="00B8A9"/>
                </a:solidFill>
                <a:latin typeface="B Nazanin"/>
              </a:rPr>
              <a:t>   ◈   </a:t>
            </a:r>
            <a:r>
              <a:rPr sz="2200" b="1">
                <a:solidFill>
                  <a:srgbClr val="FFFFFF"/>
                </a:solidFill>
                <a:latin typeface="B Nazanin"/>
              </a:rPr>
              <a:t>شاه‌خواجه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>
                <a:solidFill>
                  <a:srgbClr val="FFFFFF"/>
                </a:solidFill>
                <a:latin typeface="B Nazanin"/>
              </a:rPr>
              <a:t>شرکت تجاری چیست؟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645920"/>
            <a:ext cx="10362895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09960" y="1645920"/>
            <a:ext cx="64008" cy="155448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98142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>
                <a:solidFill>
                  <a:srgbClr val="00897B"/>
                </a:solidFill>
                <a:latin typeface="B Nazanin"/>
              </a:rPr>
              <a:t>تعریف ساده: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1800" b="0">
                <a:solidFill>
                  <a:srgbClr val="263238"/>
                </a:solidFill>
                <a:latin typeface="B Nazanin"/>
              </a:rPr>
              <a:t>وقتی دو یا چند نفر پول یا مهارتشون رو کنار هم بذارن و با هم یک فعالیت تجاری انجام بدن تا سود کنن، یک شرکت تجاری تشکیل دادن.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4747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3474720"/>
            <a:ext cx="2377440" cy="64008"/>
          </a:xfrm>
          <a:prstGeom prst="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749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200" b="1">
                <a:solidFill>
                  <a:srgbClr val="1E569E"/>
                </a:solidFill>
                <a:latin typeface="B Nazanin"/>
              </a:rPr>
              <a:t>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700" b="1">
                <a:solidFill>
                  <a:srgbClr val="263238"/>
                </a:solidFill>
                <a:latin typeface="B Nazanin"/>
              </a:rPr>
              <a:t>نوع شرکت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5166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90A4AE"/>
                </a:solidFill>
                <a:latin typeface="B Nazanin"/>
              </a:rPr>
              <a:t>در قانون تجارت
ماده ۲۰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4747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474720"/>
            <a:ext cx="2377440" cy="640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749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200" b="1">
                <a:solidFill>
                  <a:srgbClr val="00897B"/>
                </a:solidFill>
                <a:latin typeface="B Nazanin"/>
              </a:rPr>
              <a:t>+۱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700" b="1">
                <a:solidFill>
                  <a:srgbClr val="263238"/>
                </a:solidFill>
                <a:latin typeface="B Nazanin"/>
              </a:rPr>
              <a:t>شرکت تعاونی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166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90A4AE"/>
                </a:solidFill>
                <a:latin typeface="B Nazanin"/>
              </a:rPr>
              <a:t>در قانون
جداگانه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4747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474720"/>
            <a:ext cx="2377440" cy="640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749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200" b="1">
                <a:solidFill>
                  <a:srgbClr val="FFB300"/>
                </a:solidFill>
                <a:latin typeface="B Nazanin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700" b="1">
                <a:solidFill>
                  <a:srgbClr val="263238"/>
                </a:solidFill>
                <a:latin typeface="B Nazanin"/>
              </a:rPr>
              <a:t>عامل انتخاب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166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90A4AE"/>
                </a:solidFill>
                <a:latin typeface="B Nazanin"/>
              </a:rPr>
              <a:t>نوع کار، تعداد شرکا
میزان سرمایه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3474720"/>
            <a:ext cx="23774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3474720"/>
            <a:ext cx="2377440" cy="64008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49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200" b="1">
                <a:solidFill>
                  <a:srgbClr val="FF5252"/>
                </a:solidFill>
                <a:latin typeface="B Nazanin"/>
              </a:rPr>
              <a:t>۹۰٪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572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700" b="1">
                <a:solidFill>
                  <a:srgbClr val="263238"/>
                </a:solidFill>
                <a:latin typeface="B Nazanin"/>
              </a:rPr>
              <a:t>محبوب‌ترین‌ها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400" b="0">
                <a:solidFill>
                  <a:srgbClr val="90A4AE"/>
                </a:solidFill>
                <a:latin typeface="B Nazanin"/>
              </a:rPr>
              <a:t>سهامی خاص و
مسئولیت محدود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400" b="1">
                <a:solidFill>
                  <a:srgbClr val="FFFFFF"/>
                </a:solidFill>
                <a:latin typeface="B Nazanin"/>
              </a:rPr>
              <a:t>نمای کلی: انواع شرکت‌های تجاری ایران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554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65408" y="1554480"/>
            <a:ext cx="73152" cy="2103120"/>
          </a:xfrm>
          <a:prstGeom prst="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1737360"/>
            <a:ext cx="502920" cy="502920"/>
          </a:xfrm>
          <a:prstGeom prst="ellipse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0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سهامی عام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42316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606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بورسی
سرمایه بزرگ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554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76488" y="1554480"/>
            <a:ext cx="73152" cy="2103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1737360"/>
            <a:ext cx="502920" cy="5029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783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سهامی خاص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42316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606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محبوب‌ترین
نوع شرکت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1554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87568" y="1554480"/>
            <a:ext cx="73152" cy="21031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83480" y="1737360"/>
            <a:ext cx="502920" cy="50292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1783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مسئولیت محدود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42316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2606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مناسب
کسب‌وکار کوچک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155448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98648" y="1554480"/>
            <a:ext cx="73152" cy="21031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4560" y="1737360"/>
            <a:ext cx="502920" cy="50292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1783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تضامنی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42316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606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مسئولیت
نامحدود شرکا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3886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265408" y="3886200"/>
            <a:ext cx="73152" cy="210312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61320" y="4069080"/>
            <a:ext cx="502920" cy="5029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61320" y="4096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1148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نسبی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475488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مسئولیت
به نسبت سرمایه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3886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76488" y="3886200"/>
            <a:ext cx="73152" cy="2103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72400" y="4069080"/>
            <a:ext cx="502920" cy="5029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4096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1148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مختلط سهامی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475488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ترکیب سهامی
و تضامنی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3886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87568" y="3886200"/>
            <a:ext cx="73152" cy="2103120"/>
          </a:xfrm>
          <a:prstGeom prst="rect">
            <a:avLst/>
          </a:prstGeom>
          <a:solidFill>
            <a:srgbClr val="4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83480" y="4069080"/>
            <a:ext cx="502920" cy="502920"/>
          </a:xfrm>
          <a:prstGeom prst="ellipse">
            <a:avLst/>
          </a:prstGeom>
          <a:solidFill>
            <a:srgbClr val="45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83480" y="4096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1148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مختلط غیرسهامی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475488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ترکیب
غیرسهامی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" y="3886200"/>
            <a:ext cx="25603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98648" y="3886200"/>
            <a:ext cx="73152" cy="2103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194560" y="40690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0" y="40965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000" b="1">
                <a:solidFill>
                  <a:srgbClr val="FFFFFF"/>
                </a:solidFill>
                <a:latin typeface="B Nazanin"/>
              </a:rPr>
              <a:t>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1148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600" b="1">
                <a:solidFill>
                  <a:srgbClr val="263238"/>
                </a:solidFill>
                <a:latin typeface="B Nazanin"/>
              </a:rPr>
              <a:t>شرکت تعاونی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4754880"/>
            <a:ext cx="2103120" cy="1905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400" b="0">
                <a:solidFill>
                  <a:srgbClr val="90A4AE"/>
                </a:solidFill>
                <a:latin typeface="B Nazanin"/>
              </a:rPr>
              <a:t>مشارکتی
غیرانتفاعی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828800" y="6126480"/>
            <a:ext cx="8534095" cy="548640"/>
          </a:xfrm>
          <a:prstGeom prst="round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0" y="6153912"/>
            <a:ext cx="8168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00B8A9"/>
                </a:solidFill>
                <a:latin typeface="B Nazanin"/>
              </a:rPr>
              <a:t>در عمل بیش از ۹۰٪ شرکت‌ها «سهامی خاص» یا «مسئولیت محدود» هستند  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914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>
                <a:solidFill>
                  <a:srgbClr val="FFFFFF"/>
                </a:solidFill>
                <a:latin typeface="B Nazanin"/>
              </a:rPr>
              <a:t>شرکت سهامی عام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1400" b="0">
                <a:solidFill>
                  <a:srgbClr val="5BA3F5"/>
                </a:solidFill>
                <a:latin typeface="B Nazanin"/>
              </a:rPr>
              <a:t>بزرگ‌ترین نوع شرکت تجاری  ◈  سهام قابل معامله در بورس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6705295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67160" y="1554480"/>
            <a:ext cx="64008" cy="4206240"/>
          </a:xfrm>
          <a:prstGeom prst="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737360"/>
            <a:ext cx="6156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400" b="1">
                <a:solidFill>
                  <a:srgbClr val="1E569E"/>
                </a:solidFill>
                <a:latin typeface="B Nazanin"/>
              </a:rPr>
              <a:t>ویژگی‌های اصلی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سرمایه از طریق فروش سهام به عموم مردم تأمین می‌شود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حداقل ۵ سهامدار و حداقل سرمایه بالا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سهام در بورس اوراق بهادار قابل خرید و فروش است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مسئولیت سهامداران فقط به اندازه سهامشان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باید هیئت‌مدیره (حداقل ۵ نفر) و بازرس قانونی داشته باشد  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54480"/>
            <a:ext cx="4297680" cy="21031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1554480"/>
            <a:ext cx="64008" cy="2103120"/>
          </a:xfrm>
          <a:prstGeom prst="rect">
            <a:avLst/>
          </a:prstGeom>
          <a:solidFill>
            <a:srgbClr val="2F7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916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1E569E"/>
                </a:solidFill>
                <a:latin typeface="B Nazanin"/>
              </a:rPr>
              <a:t>نمونه‌های واقعی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ایران‌خودرو  ▸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فولاد مبارکه اصفهان  ▸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بانک ملت  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4297680" cy="18288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931920"/>
            <a:ext cx="64008" cy="1828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>
                <a:solidFill>
                  <a:srgbClr val="FFB300"/>
                </a:solidFill>
                <a:latin typeface="B Nazanin"/>
              </a:rPr>
              <a:t>نکته کلیدی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1600" b="0">
                <a:solidFill>
                  <a:srgbClr val="263238"/>
                </a:solidFill>
                <a:latin typeface="B Nazanin"/>
              </a:rPr>
              <a:t>مناسب شرکت‌های بزرگ که نیاز به جذب سرمایه از مردم دارند. ثبت و مدیریت پیچیده‌تر از سایر انواع.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45720"/>
            <a:ext cx="3962095" cy="27432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54864"/>
            <a:ext cx="3779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200" b="1">
                <a:solidFill>
                  <a:srgbClr val="FFFFFF"/>
                </a:solidFill>
                <a:latin typeface="B Nazanin"/>
              </a:rPr>
              <a:t>★  محبوب‌ترین نوع شرکت در ایران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>
                <a:solidFill>
                  <a:srgbClr val="FFFFFF"/>
                </a:solidFill>
                <a:latin typeface="B Nazanin"/>
              </a:rPr>
              <a:t>شرکت سهامی خاص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6705295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67160" y="1554480"/>
            <a:ext cx="64008" cy="2743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691640"/>
            <a:ext cx="615665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>
                <a:solidFill>
                  <a:srgbClr val="00897B"/>
                </a:solidFill>
                <a:latin typeface="B Nazanin"/>
              </a:rPr>
              <a:t>ویژگی‌های اصلی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حداقل ۳ سهامدار نیاز دارد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سهام فقط بین شرکا قابل انتقال است (بورسی نیست)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مسئولیت سهامداران محدود به میزان سهامشان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تشریفات اداری ساده‌تر و انعطاف‌پذیری بالا  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554480"/>
            <a:ext cx="429768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554480"/>
            <a:ext cx="64008" cy="27432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6916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7C4DFF"/>
                </a:solidFill>
                <a:latin typeface="B Nazanin"/>
              </a:rPr>
              <a:t>تفاوت با سهامی عام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سهام به عموم فروخته نمی‌شود  ✦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تعداد سهامداران کمتر (۳ به جای ۵)  ✦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سرمایه اولیه کمتری لازم دارد  ✦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بدون نیاز به بورس و پذیره‌نویسی  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11277295" cy="164592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11277295" cy="64008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00897B"/>
                </a:solidFill>
                <a:latin typeface="B Nazanin"/>
              </a:rPr>
              <a:t>چرا انتخاب اول کارآفرینان است؟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1700" b="0">
                <a:solidFill>
                  <a:srgbClr val="263238"/>
                </a:solidFill>
                <a:latin typeface="B Nazanin"/>
              </a:rPr>
              <a:t>ثبت آسان  ◈  هزینه کم  ◈  مدیریت ساده  ◈  مناسب استارتاپ‌ها و شرکت‌های متوسط  ◈  بدون نیاز به سرمایه بسیار بالا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>
                <a:solidFill>
                  <a:srgbClr val="FFFFFF"/>
                </a:solidFill>
                <a:latin typeface="B Nazanin"/>
              </a:rPr>
              <a:t>شرکت با مسئولیت محدود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1400" b="0">
                <a:solidFill>
                  <a:srgbClr val="5BA3F5"/>
                </a:solidFill>
                <a:latin typeface="B Nazanin"/>
              </a:rPr>
              <a:t>ساده‌ترین نوع شرکت تجاری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6705295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67160" y="1554480"/>
            <a:ext cx="64008" cy="29260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40"/>
            <a:ext cx="61566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>
                <a:solidFill>
                  <a:srgbClr val="FFB300"/>
                </a:solidFill>
                <a:latin typeface="B Nazanin"/>
              </a:rPr>
              <a:t>ویژگی‌های اصلی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حداقل ۲ شریک نیاز دارد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حداقل سرمایه مشخصی ندارد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سهام ندارد — شرکا «سهم‌الشرکه» دارند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انتقال سهم‌الشرکه نیاز به موافقت اکثریت شرکا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مسئولیت فقط به اندازه سهم‌الشرکه  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54480"/>
            <a:ext cx="4297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1554480"/>
            <a:ext cx="64008" cy="2286000"/>
          </a:xfrm>
          <a:prstGeom prst="rect">
            <a:avLst/>
          </a:prstGeom>
          <a:solidFill>
            <a:srgbClr val="2F7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9164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>
                <a:solidFill>
                  <a:srgbClr val="2F7ADB"/>
                </a:solidFill>
                <a:latin typeface="B Nazanin"/>
              </a:rPr>
              <a:t>سهم‌الشرکه در مقابل سهام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600" b="0">
                <a:solidFill>
                  <a:srgbClr val="263238"/>
                </a:solidFill>
                <a:latin typeface="B Nazanin"/>
              </a:rPr>
              <a:t/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1500" b="0">
                <a:solidFill>
                  <a:srgbClr val="263238"/>
                </a:solidFill>
                <a:latin typeface="B Nazanin"/>
              </a:rPr>
              <a:t>سهام = ورقه‌ای که آزادانه خرید و فروش می‌شود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1500" b="0">
                <a:solidFill>
                  <a:srgbClr val="263238"/>
                </a:solidFill>
                <a:latin typeface="B Nazanin"/>
              </a:rPr>
              <a:t>سهم‌الشرکه = ورقه ندارد، انتقال سخت‌تر و نیاز به موافقت شرکا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4297680" cy="1828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4114800"/>
            <a:ext cx="64008" cy="1828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>
                <a:solidFill>
                  <a:srgbClr val="FF6D00"/>
                </a:solidFill>
                <a:latin typeface="B Nazanin"/>
              </a:rPr>
              <a:t>بهترین انتخاب برای: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1600" b="0">
                <a:solidFill>
                  <a:srgbClr val="263238"/>
                </a:solidFill>
                <a:latin typeface="B Nazanin"/>
              </a:rPr>
              <a:t>کسب‌وکارهای کوچک خانوادگی، مغازه‌ها، کارگاه‌ها و مشاغلی که شرکا همدیگر را می‌شناسند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709160"/>
            <a:ext cx="6705295" cy="1234440"/>
          </a:xfrm>
          <a:prstGeom prst="round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800600"/>
            <a:ext cx="633953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00B8A9"/>
                </a:solidFill>
                <a:latin typeface="B Nazanin"/>
              </a:rPr>
              <a:t>تفاوت اصلی با سهامی خاص: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1500" b="0">
                <a:solidFill>
                  <a:srgbClr val="BBDEFB"/>
                </a:solidFill>
                <a:latin typeface="B Nazanin"/>
              </a:rPr>
              <a:t>سهم‌الشرکه به جای سهام  |  حداقل ۲ نفر  |  انتقال مالکیت سخت‌تر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400" b="1">
                <a:solidFill>
                  <a:srgbClr val="FFFFFF"/>
                </a:solidFill>
                <a:latin typeface="B Nazanin"/>
              </a:rPr>
              <a:t>شرکت تضامنی و شرکت نسبی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486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86400" cy="64008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1828800"/>
            <a:ext cx="548640" cy="54864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18745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800" b="1">
                <a:solidFill>
                  <a:srgbClr val="FFFFFF"/>
                </a:solidFill>
                <a:latin typeface="B Nazanin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600" b="1">
                <a:solidFill>
                  <a:srgbClr val="FF5252"/>
                </a:solidFill>
                <a:latin typeface="B Nazanin"/>
              </a:rPr>
              <a:t>شرکت تضامنی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600" b="0">
                <a:solidFill>
                  <a:srgbClr val="263238"/>
                </a:solidFill>
                <a:latin typeface="B Nazanin"/>
              </a:rPr>
              <a:t/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شرکا مسئولیت نامحدود و تضامنی دارند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500">
                <a:solidFill>
                  <a:srgbClr val="263238"/>
                </a:solidFill>
                <a:latin typeface="B Nazanin"/>
              </a:rPr>
              <a:t>اگر شرکت نتونه بدهی بده، شرکا از جیب خودشون باید بدن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500">
                <a:solidFill>
                  <a:srgbClr val="263238"/>
                </a:solidFill>
                <a:latin typeface="B Nazanin"/>
              </a:rPr>
              <a:t>هر شریک مسئول تمام بدهی است نه فقط سهم خودش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بر پایه اعتماد کامل متقابل  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54864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5486400" cy="6400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600" b="1">
                <a:solidFill>
                  <a:srgbClr val="7C4DFF"/>
                </a:solidFill>
                <a:latin typeface="B Nazanin"/>
              </a:rPr>
              <a:t>شرکت نسبی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600" b="0">
                <a:solidFill>
                  <a:srgbClr val="263238"/>
                </a:solidFill>
                <a:latin typeface="B Nazanin"/>
              </a:rPr>
              <a:t/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شبیه تضامنی ولی با یک تفاوت مهم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مسئولیت هر شریک به نسبت سرمایه‌اش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500">
                <a:solidFill>
                  <a:srgbClr val="263238"/>
                </a:solidFill>
                <a:latin typeface="B Nazanin"/>
              </a:rPr>
              <a:t>مثال: ۳۰٪ سرمایه = ۳۰٪ مسئولیت بدهی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ریسک کمتر از تضامنی  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943600"/>
            <a:ext cx="9448495" cy="640080"/>
          </a:xfrm>
          <a:prstGeom prst="roundRect">
            <a:avLst/>
          </a:prstGeom>
          <a:solidFill>
            <a:srgbClr val="FD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5943600"/>
            <a:ext cx="9448495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989320"/>
            <a:ext cx="9082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5252"/>
                </a:solidFill>
                <a:latin typeface="B Nazanin"/>
              </a:rPr>
              <a:t>هر دو نوع به دلیل ریسک بالای شرکا، امروزه کمتر مورد استفاده قرار می‌گیرند  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600" b="1">
                <a:solidFill>
                  <a:srgbClr val="FFFFFF"/>
                </a:solidFill>
                <a:latin typeface="B Nazanin"/>
              </a:rPr>
              <a:t>شرکت تعاونی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1400" b="0">
                <a:solidFill>
                  <a:srgbClr val="A5D6A7"/>
                </a:solidFill>
                <a:latin typeface="B Nazanin"/>
              </a:rPr>
              <a:t>مشارکت  ◈  دموکراسی  ◈  خدمت به اعضا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6705295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67160" y="1554480"/>
            <a:ext cx="64008" cy="2834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40"/>
            <a:ext cx="61566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200" b="1">
                <a:solidFill>
                  <a:srgbClr val="2E7D32"/>
                </a:solidFill>
                <a:latin typeface="B Nazanin"/>
              </a:rPr>
              <a:t>ویژگی‌های اصلی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حداقل ۷ عضو نیاز دارد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هدف: خدمت به اعضا، نه صرفاً سودآوری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هر عضو = یک رأی (بدون توجه به سرمایه)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مدیریت دموکراتیک و مشارکتی  ◆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700">
                <a:solidFill>
                  <a:srgbClr val="263238"/>
                </a:solidFill>
                <a:latin typeface="B Nazanin"/>
              </a:rPr>
              <a:t>حمایت دولتی و معافیت‌های مالیاتی  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54480"/>
            <a:ext cx="4297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1554480"/>
            <a:ext cx="64008" cy="18288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69164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2000" b="1">
                <a:solidFill>
                  <a:srgbClr val="00897B"/>
                </a:solidFill>
                <a:latin typeface="B Nazanin"/>
              </a:rPr>
              <a:t>انواع تعاونی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تعاونی تولید (مثل کشاورزی)  ▸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تعاونی مصرف (فروشگاه تعاونی)  ▸</a:t>
            </a:r>
          </a:p>
          <a:p>
            <a:pPr algn="r" a:rtl="1">
              <a:spcBef>
                <a:spcPts val="1000"/>
              </a:spcBef>
              <a:spcAft>
                <a:spcPts val="500"/>
              </a:spcAft>
            </a:pPr>
            <a:r>
              <a:rPr sz="1600">
                <a:solidFill>
                  <a:srgbClr val="263238"/>
                </a:solidFill>
                <a:latin typeface="B Nazanin"/>
              </a:rPr>
              <a:t>تعاونی مسکن  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429768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657600"/>
            <a:ext cx="64008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>
                <a:solidFill>
                  <a:srgbClr val="2E7D32"/>
                </a:solidFill>
                <a:latin typeface="B Nazanin"/>
              </a:rPr>
              <a:t>مثال کاربردی</a:t>
            </a:r>
          </a:p>
          <a:p>
            <a:pPr algn="r" a:rtl="1">
              <a:spcBef>
                <a:spcPts val="600"/>
              </a:spcBef>
              <a:spcAft>
                <a:spcPts val="300"/>
              </a:spcAft>
            </a:pPr>
            <a:r>
              <a:rPr sz="1500" b="0">
                <a:solidFill>
                  <a:srgbClr val="263238"/>
                </a:solidFill>
                <a:latin typeface="B Nazanin"/>
              </a:rPr>
              <a:t>۱۰ کشاورز با هم شرکت تعاونی تشکیل می‌دهند. محصولاتشان را مشترکاً می‌فروشند، قدرت چانه‌زنی بیشتری دارند و سود بهتری می‌برند.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663440"/>
            <a:ext cx="6705295" cy="1280160"/>
          </a:xfrm>
          <a:prstGeom prst="round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754880"/>
            <a:ext cx="6339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00B8A9"/>
                </a:solidFill>
                <a:latin typeface="B Nazanin"/>
              </a:rPr>
              <a:t>اصل اول تعاون:</a:t>
            </a:r>
          </a:p>
          <a:p>
            <a:pPr algn="ctr" a:rtl="1">
              <a:spcBef>
                <a:spcPts val="600"/>
              </a:spcBef>
              <a:spcAft>
                <a:spcPts val="300"/>
              </a:spcAft>
            </a:pPr>
            <a:r>
              <a:rPr sz="1500" b="0">
                <a:solidFill>
                  <a:srgbClr val="BBDEFB"/>
                </a:solidFill>
                <a:latin typeface="B Nazanin"/>
              </a:rPr>
              <a:t>عضویت داوطلبانه و آزاد  ◈  کنترل دموکراتیک  ◈  تقسیم عادلانه سود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94415" y="5760720"/>
            <a:ext cx="2011680" cy="2011680"/>
          </a:xfrm>
          <a:prstGeom prst="ellipse">
            <a:avLst/>
          </a:prstGeom>
          <a:solidFill>
            <a:srgbClr val="E3F2F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457200" y="6126480"/>
            <a:ext cx="1371600" cy="1371600"/>
          </a:xfrm>
          <a:prstGeom prst="ellipse">
            <a:avLst/>
          </a:prstGeom>
          <a:solidFill>
            <a:srgbClr val="E3F2F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11430000" y="1828800"/>
            <a:ext cx="182880" cy="182880"/>
          </a:xfrm>
          <a:prstGeom prst="diamond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1155680" y="2286000"/>
            <a:ext cx="137160" cy="137160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3400" b="1">
                <a:solidFill>
                  <a:srgbClr val="FFFFFF"/>
                </a:solidFill>
                <a:latin typeface="B Nazanin"/>
              </a:rPr>
              <a:t>مقایسه انواع شرکت‌های پرکاربرد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508760"/>
            <a:ext cx="2880360" cy="685800"/>
          </a:xfrm>
          <a:prstGeom prst="round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60020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B Nazanin"/>
              </a:rPr>
              <a:t>مناسب برای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508760"/>
            <a:ext cx="2423160" cy="6858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60020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B Nazanin"/>
              </a:rPr>
              <a:t>مسئولیت شرکا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508760"/>
            <a:ext cx="1325880" cy="6858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600200"/>
            <a:ext cx="1325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B Nazanin"/>
              </a:rPr>
              <a:t>حداقل شرکا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508760"/>
            <a:ext cx="1965960" cy="6858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B Nazanin"/>
              </a:rPr>
              <a:t>حداقل سرمایه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508760"/>
            <a:ext cx="2788920" cy="685800"/>
          </a:xfrm>
          <a:prstGeom prst="round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0020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600" b="1">
                <a:solidFill>
                  <a:srgbClr val="FFFFFF"/>
                </a:solidFill>
                <a:latin typeface="B Nazanin"/>
              </a:rPr>
              <a:t>نوع شرکت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240280"/>
            <a:ext cx="2880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317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شرکت‌های بزرگ بورسی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240280"/>
            <a:ext cx="2423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33172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محدود به سهام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2240280"/>
            <a:ext cx="13258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33172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۵ نفر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2240280"/>
            <a:ext cx="1965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33172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بالا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2240280"/>
            <a:ext cx="2788920" cy="777240"/>
          </a:xfrm>
          <a:prstGeom prst="roundRect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33172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B Nazanin"/>
              </a:rPr>
              <a:t>سهامی عام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063240"/>
            <a:ext cx="2880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1546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استارتاپ و شرکت متوسط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3063240"/>
            <a:ext cx="2423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1546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محدود به سهام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3063240"/>
            <a:ext cx="13258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315468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۳ نفر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3063240"/>
            <a:ext cx="1965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31546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کم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3063240"/>
            <a:ext cx="2788920" cy="7772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1546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B Nazanin"/>
              </a:rPr>
              <a:t>سهامی خاص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3886200"/>
            <a:ext cx="2880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97764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کسب‌وکار کوچک خانوادگی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3886200"/>
            <a:ext cx="2423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39776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محدود به سهم‌الشرکه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3886200"/>
            <a:ext cx="13258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397764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۲ نفر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3886200"/>
            <a:ext cx="1965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397764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بدون حداقل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3886200"/>
            <a:ext cx="2788920" cy="777240"/>
          </a:xfrm>
          <a:prstGeom prst="round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0" y="39776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B Nazanin"/>
              </a:rPr>
              <a:t>مسئولیت محدود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709160"/>
            <a:ext cx="2880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006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فعالیت مبتنی بر اعتماد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0" y="4709160"/>
            <a:ext cx="2423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0" y="480060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نامحدود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0" y="4709160"/>
            <a:ext cx="13258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480060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۲ نفر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4709160"/>
            <a:ext cx="1965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0" y="48006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مشخص نشده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60" y="4709160"/>
            <a:ext cx="2788920" cy="777240"/>
          </a:xfrm>
          <a:prstGeom prst="round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480060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B Nazanin"/>
              </a:rPr>
              <a:t>تضامنی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5532120"/>
            <a:ext cx="28803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6235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فعالیت‌های مشارکتی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0400" y="5532120"/>
            <a:ext cx="24231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562356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محدود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0" y="5532120"/>
            <a:ext cx="13258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5623560"/>
            <a:ext cx="1143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۷ نفر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40880" y="5532120"/>
            <a:ext cx="1965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0" y="56235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0">
                <a:solidFill>
                  <a:srgbClr val="263238"/>
                </a:solidFill>
                <a:latin typeface="B Nazanin"/>
              </a:rPr>
              <a:t>متغیر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2560" y="5532120"/>
            <a:ext cx="2788920" cy="7772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0" y="5623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B Nazanin"/>
              </a:rPr>
              <a:t>تعاونی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28800" y="6035040"/>
            <a:ext cx="8534095" cy="594360"/>
          </a:xfrm>
          <a:prstGeom prst="round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28800" y="6035040"/>
            <a:ext cx="85340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11680" y="6062472"/>
            <a:ext cx="81683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1700" b="1">
                <a:solidFill>
                  <a:srgbClr val="00897B"/>
                </a:solidFill>
                <a:latin typeface="B Nazanin"/>
              </a:rPr>
              <a:t>✔  برای اکثر کارآفرینان: «سهامی خاص» یا «مسئولیت محدود» بهترین انتخاب است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a:rtl="1"/>
            <a:r>
              <a:rPr sz="1100" b="0">
                <a:solidFill>
                  <a:srgbClr val="90A4AE"/>
                </a:solidFill>
                <a:latin typeface="B Nazanin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4572000"/>
          </a:xfrm>
          <a:prstGeom prst="rect">
            <a:avLst/>
          </a:prstGeom>
          <a:solidFill>
            <a:srgbClr val="1E569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0897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1371600"/>
            <a:ext cx="3657600" cy="3657600"/>
          </a:xfrm>
          <a:prstGeom prst="ellipse">
            <a:avLst/>
          </a:prstGeom>
          <a:solidFill>
            <a:srgbClr val="0F2B52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0F2B5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57200" y="5029200"/>
            <a:ext cx="914400" cy="822960"/>
          </a:xfrm>
          <a:prstGeom prst="hexagon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10515600" y="457200"/>
            <a:ext cx="731520" cy="640080"/>
          </a:xfrm>
          <a:prstGeom prst="hexagon">
            <a:avLst/>
          </a:prstGeom>
          <a:solidFill>
            <a:srgbClr val="2F7A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4200" b="1">
                <a:solidFill>
                  <a:srgbClr val="FFFFFF"/>
                </a:solidFill>
                <a:latin typeface="B Nazanin"/>
              </a:rPr>
              <a:t>جمع‌بندی و نکات کلیدی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17320"/>
            <a:ext cx="39620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0" y="1874520"/>
            <a:ext cx="594360" cy="594360"/>
          </a:xfrm>
          <a:prstGeom prst="ellipse">
            <a:avLst/>
          </a:prstGeom>
          <a:solidFill>
            <a:srgbClr val="1E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9019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B Nazanin"/>
              </a:rPr>
              <a:t>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1828800"/>
            <a:ext cx="7772400" cy="777240"/>
          </a:xfrm>
          <a:prstGeom prst="roundRect">
            <a:avLst/>
          </a:prstGeom>
          <a:solidFill>
            <a:srgbClr val="0D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192024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0">
                <a:solidFill>
                  <a:srgbClr val="FFFFFF"/>
                </a:solidFill>
                <a:latin typeface="B Nazanin"/>
              </a:rPr>
              <a:t>انتخاب نوع شرکت باید با توجه به نوع فعالیت، میزان سرمایه و تعداد شرکا باشد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0" y="2926080"/>
            <a:ext cx="594360" cy="59436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95351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B Nazanin"/>
              </a:rPr>
              <a:t>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880360"/>
            <a:ext cx="7772400" cy="777240"/>
          </a:xfrm>
          <a:prstGeom prst="roundRect">
            <a:avLst/>
          </a:prstGeom>
          <a:solidFill>
            <a:srgbClr val="0D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297180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0">
                <a:solidFill>
                  <a:srgbClr val="FFFFFF"/>
                </a:solidFill>
                <a:latin typeface="B Nazanin"/>
              </a:rPr>
              <a:t>سهامی خاص و مسئولیت محدود محبوب‌ترین و عملی‌ترین گزینه‌ها هستند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0" y="3977640"/>
            <a:ext cx="594360" cy="59436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400507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B Nazanin"/>
              </a:rPr>
              <a:t>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931920"/>
            <a:ext cx="7772400" cy="777240"/>
          </a:xfrm>
          <a:prstGeom prst="roundRect">
            <a:avLst/>
          </a:prstGeom>
          <a:solidFill>
            <a:srgbClr val="0D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02336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0">
                <a:solidFill>
                  <a:srgbClr val="FFFFFF"/>
                </a:solidFill>
                <a:latin typeface="B Nazanin"/>
              </a:rPr>
              <a:t>هرچه مسئولیت شرکا بیشتر باشد ← ریسک بالاتر ولی اعتبار بیشتر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0" y="5029200"/>
            <a:ext cx="594360" cy="59436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505663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400" b="1">
                <a:solidFill>
                  <a:srgbClr val="FFFFFF"/>
                </a:solidFill>
                <a:latin typeface="B Nazanin"/>
              </a:rPr>
              <a:t>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983480"/>
            <a:ext cx="7772400" cy="777240"/>
          </a:xfrm>
          <a:prstGeom prst="roundRect">
            <a:avLst/>
          </a:prstGeom>
          <a:solidFill>
            <a:srgbClr val="0D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074920"/>
            <a:ext cx="7406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a:rtl="1"/>
            <a:r>
              <a:rPr sz="1800" b="1">
                <a:solidFill>
                  <a:srgbClr val="00B8A9"/>
                </a:solidFill>
                <a:latin typeface="B Nazanin"/>
              </a:rPr>
              <a:t>برای کارآفرینی، سهامی خاص را به عنوان اولین گزینه در نظر بگیرید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5852160"/>
            <a:ext cx="5790895" cy="54864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98932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a:rtl="1"/>
            <a:r>
              <a:rPr sz="2600" b="0">
                <a:solidFill>
                  <a:srgbClr val="BBDEFB"/>
                </a:solidFill>
                <a:latin typeface="B Nazanin"/>
              </a:rPr>
              <a:t>با تشکر از توجه شما</a:t>
            </a:r>
          </a:p>
        </p:txBody>
      </p:sp>
      <p:sp>
        <p:nvSpPr>
          <p:cNvPr id="30" name="Diamond 29"/>
          <p:cNvSpPr/>
          <p:nvPr/>
        </p:nvSpPr>
        <p:spPr>
          <a:xfrm>
            <a:off x="5029200" y="5760720"/>
            <a:ext cx="164592" cy="164592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6949440" y="5760720"/>
            <a:ext cx="164592" cy="164592"/>
          </a:xfrm>
          <a:prstGeom prst="diamond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