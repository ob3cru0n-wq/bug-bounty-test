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"/>
            <a:ext cx="1371600" cy="13716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1828800" cy="18288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2926080"/>
            <a:ext cx="4876495" cy="635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3716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4200" b="1">
                <a:solidFill>
                  <a:srgbClr val="FFFFFF"/>
                </a:solidFill>
                <a:latin typeface="B Nazanin"/>
              </a:rPr>
              <a:t>انواع شرکت‌های تجاری متداول در ایران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291840"/>
            <a:ext cx="7619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2200" b="0">
                <a:solidFill>
                  <a:srgbClr val="BBDEFB"/>
                </a:solidFill>
                <a:latin typeface="B Nazanin"/>
              </a:rPr>
              <a:t>بررسی ساختار، ویژگی‌ها و کاربرد انواع شرکت‌های تجاری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5029200"/>
            <a:ext cx="6705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0">
                <a:solidFill>
                  <a:srgbClr val="90CAF9"/>
                </a:solidFill>
                <a:latin typeface="B Nazanin"/>
              </a:rPr>
              <a:t>درس کارآفرینی  |  دانشکده مهندسی کامپیوتر</a:t>
            </a:r>
          </a:p>
        </p:txBody>
      </p:sp>
      <p:sp>
        <p:nvSpPr>
          <p:cNvPr id="10" name="Oval 9"/>
          <p:cNvSpPr/>
          <p:nvPr/>
        </p:nvSpPr>
        <p:spPr>
          <a:xfrm>
            <a:off x="5303520" y="4572000"/>
            <a:ext cx="91440" cy="9144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23560" y="4572000"/>
            <a:ext cx="91440" cy="9144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43600" y="4572000"/>
            <a:ext cx="91440" cy="9144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63640" y="4572000"/>
            <a:ext cx="91440" cy="9144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0" y="4572000"/>
            <a:ext cx="91440" cy="9144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635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3400" b="1">
                <a:solidFill>
                  <a:srgbClr val="FFFFFF"/>
                </a:solidFill>
                <a:latin typeface="B Nazanin"/>
              </a:rPr>
              <a:t>شرکت تجاری چیست؟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645920"/>
            <a:ext cx="9448495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737360"/>
            <a:ext cx="88998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000" b="1">
                <a:solidFill>
                  <a:srgbClr val="1A568E"/>
                </a:solidFill>
                <a:latin typeface="B Nazanin"/>
              </a:rPr>
              <a:t>تعریف ساده:</a:t>
            </a:r>
          </a:p>
          <a:p>
            <a:pPr algn="r" a:rtl="1">
              <a:spcBef>
                <a:spcPts val="600"/>
              </a:spcBef>
              <a:spcAft>
                <a:spcPts val="300"/>
              </a:spcAft>
            </a:pPr>
            <a:r>
              <a:rPr sz="1800" b="0">
                <a:solidFill>
                  <a:srgbClr val="212121"/>
                </a:solidFill>
                <a:latin typeface="B Nazanin"/>
              </a:rPr>
              <a:t>شرکت تجاری یعنی دو یا چند نفر پول یا سرمایه‌شان را کنار هم بگذارند و با هم کار تجاری انجام بدهند تا سود کنند.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9184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200" b="1">
                <a:solidFill>
                  <a:srgbClr val="1A568E"/>
                </a:solidFill>
                <a:latin typeface="B Nazanin"/>
              </a:rPr>
              <a:t>نکات مهم: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12121"/>
                </a:solidFill>
                <a:latin typeface="B Nazanin"/>
              </a:rPr>
              <a:t>قانون تجارت ایران ۷ نوع شرکت تجاری تعریف کرده (ماده ۲۰)  ●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12121"/>
                </a:solidFill>
                <a:latin typeface="B Nazanin"/>
              </a:rPr>
              <a:t>شرکت تعاونی هم در قانون جداگانه تعریف شده  ●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12121"/>
                </a:solidFill>
                <a:latin typeface="B Nazanin"/>
              </a:rPr>
              <a:t>هر نوع شرکت، قوانین و شرایط خاص خودش را دارد  ●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12121"/>
                </a:solidFill>
                <a:latin typeface="B Nazanin"/>
              </a:rPr>
              <a:t>انتخاب نوع شرکت بستگی به نوع کار، تعداد شرکا و میزان سرمایه دارد  ●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34495" y="1645920"/>
            <a:ext cx="91440" cy="47548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635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3400" b="1">
                <a:solidFill>
                  <a:srgbClr val="FFFFFF"/>
                </a:solidFill>
                <a:latin typeface="B Nazanin"/>
              </a:rPr>
              <a:t>انواع شرکت‌های تجاری در قانون ایران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1554480"/>
            <a:ext cx="2468880" cy="2011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06840" y="1554480"/>
            <a:ext cx="2468880" cy="762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35640" y="1783080"/>
            <a:ext cx="457200" cy="457200"/>
          </a:xfrm>
          <a:prstGeom prst="ellipse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35640" y="18105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377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700" b="1">
                <a:solidFill>
                  <a:srgbClr val="212121"/>
                </a:solidFill>
                <a:latin typeface="B Nazanin"/>
              </a:rPr>
              <a:t>شرکت سهامی عام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400" b="0">
                <a:solidFill>
                  <a:srgbClr val="757575"/>
                </a:solidFill>
                <a:latin typeface="B Nazanin"/>
              </a:rPr>
              <a:t>بورسی - سرمایه بزرگ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2468880" cy="2011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2468880" cy="76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0" y="1783080"/>
            <a:ext cx="457200" cy="4572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8105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377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700" b="1">
                <a:solidFill>
                  <a:srgbClr val="212121"/>
                </a:solidFill>
                <a:latin typeface="B Nazanin"/>
              </a:rPr>
              <a:t>شرکت سهامی خاص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400" b="0">
                <a:solidFill>
                  <a:srgbClr val="757575"/>
                </a:solidFill>
                <a:latin typeface="B Nazanin"/>
              </a:rPr>
              <a:t>محبوب‌ترین نوع شرکت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1554480"/>
            <a:ext cx="2468880" cy="2011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1554480"/>
            <a:ext cx="2468880" cy="762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57800" y="1783080"/>
            <a:ext cx="457200" cy="45720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7800" y="18105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377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700" b="1">
                <a:solidFill>
                  <a:srgbClr val="212121"/>
                </a:solidFill>
                <a:latin typeface="B Nazanin"/>
              </a:rPr>
              <a:t>شرکت با مسئولیت محدود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400" b="0">
                <a:solidFill>
                  <a:srgbClr val="757575"/>
                </a:solidFill>
                <a:latin typeface="B Nazanin"/>
              </a:rPr>
              <a:t>مناسب کسب‌وکار کوچک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1554480"/>
            <a:ext cx="2468880" cy="2011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1554480"/>
            <a:ext cx="2468880" cy="76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468880" y="1783080"/>
            <a:ext cx="457200" cy="4572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0" y="18105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377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700" b="1">
                <a:solidFill>
                  <a:srgbClr val="212121"/>
                </a:solidFill>
                <a:latin typeface="B Nazanin"/>
              </a:rPr>
              <a:t>شرکت تضامنی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400" b="0">
                <a:solidFill>
                  <a:srgbClr val="757575"/>
                </a:solidFill>
                <a:latin typeface="B Nazanin"/>
              </a:rPr>
              <a:t>مسئولیت نامحدود شرکا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06840" y="3840480"/>
            <a:ext cx="2468880" cy="2011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3840480"/>
            <a:ext cx="2468880" cy="76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835640" y="4069080"/>
            <a:ext cx="457200" cy="457200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35640" y="40965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4663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700" b="1">
                <a:solidFill>
                  <a:srgbClr val="212121"/>
                </a:solidFill>
                <a:latin typeface="B Nazanin"/>
              </a:rPr>
              <a:t>شرکت نسبی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212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400" b="0">
                <a:solidFill>
                  <a:srgbClr val="757575"/>
                </a:solidFill>
                <a:latin typeface="B Nazanin"/>
              </a:rPr>
              <a:t>مسئولیت به نسبت سرمایه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840480"/>
            <a:ext cx="2468880" cy="2011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3840480"/>
            <a:ext cx="2468880" cy="76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46720" y="4069080"/>
            <a:ext cx="457200" cy="45720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40965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63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700" b="1">
                <a:solidFill>
                  <a:srgbClr val="212121"/>
                </a:solidFill>
                <a:latin typeface="B Nazanin"/>
              </a:rPr>
              <a:t>شرکت مختلط سهامی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5212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400" b="0">
                <a:solidFill>
                  <a:srgbClr val="757575"/>
                </a:solidFill>
                <a:latin typeface="B Nazanin"/>
              </a:rPr>
              <a:t>ترکیب سهامی و تضامنی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29000" y="3840480"/>
            <a:ext cx="2468880" cy="2011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29000" y="3840480"/>
            <a:ext cx="2468880" cy="76200"/>
          </a:xfrm>
          <a:prstGeom prst="rect">
            <a:avLst/>
          </a:prstGeom>
          <a:solidFill>
            <a:srgbClr val="4E3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257800" y="4069080"/>
            <a:ext cx="457200" cy="457200"/>
          </a:xfrm>
          <a:prstGeom prst="ellipse">
            <a:avLst/>
          </a:prstGeom>
          <a:solidFill>
            <a:srgbClr val="4E3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57800" y="40965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66160" y="4663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700" b="1">
                <a:solidFill>
                  <a:srgbClr val="212121"/>
                </a:solidFill>
                <a:latin typeface="B Nazanin"/>
              </a:rPr>
              <a:t>شرکت مختلط غیرسهامی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66160" y="5212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400" b="0">
                <a:solidFill>
                  <a:srgbClr val="757575"/>
                </a:solidFill>
                <a:latin typeface="B Nazanin"/>
              </a:rPr>
              <a:t>ترکیب غیرسهامی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3840480"/>
            <a:ext cx="2468880" cy="2011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" y="3840480"/>
            <a:ext cx="2468880" cy="76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468880" y="406908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68880" y="40965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4663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700" b="1">
                <a:solidFill>
                  <a:srgbClr val="212121"/>
                </a:solidFill>
                <a:latin typeface="B Nazanin"/>
              </a:rPr>
              <a:t>شرکت تعاونی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212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400" b="0">
                <a:solidFill>
                  <a:srgbClr val="757575"/>
                </a:solidFill>
                <a:latin typeface="B Nazanin"/>
              </a:rPr>
              <a:t>مشارکت اعضا - غیرانتفاعی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8800" y="612648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500" b="1">
                <a:solidFill>
                  <a:srgbClr val="1A568E"/>
                </a:solidFill>
                <a:latin typeface="B Nazanin"/>
              </a:rPr>
              <a:t>★  در عمل، سهامی خاص و مسئولیت محدود بیش از ۹۰٪ شرکت‌های ثبت‌شده را تشکیل می‌دهند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635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3400" b="1">
                <a:solidFill>
                  <a:srgbClr val="FFFFFF"/>
                </a:solidFill>
                <a:latin typeface="B Nazanin"/>
              </a:rPr>
              <a:t>شرکت سهامی عام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463040"/>
            <a:ext cx="5790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200" b="1">
                <a:solidFill>
                  <a:srgbClr val="1A568E"/>
                </a:solidFill>
                <a:latin typeface="B Nazanin"/>
              </a:rPr>
              <a:t>ویژگی‌های اصلی: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سرمایه از طریق فروش سهام به عموم مردم تأمین می‌شود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حداقل ۵ سهامدار و ۵ میلیارد ریال سرمایه نیاز دارد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سهام در بورس قابل معامله است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مسئولیت سهامداران فقط به اندازه سهامشان است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باید هیئت‌مدیره و بازرس قانونی داشته باشد  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4754880" cy="228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000" b="1">
                <a:solidFill>
                  <a:srgbClr val="1A568E"/>
                </a:solidFill>
                <a:latin typeface="B Nazanin"/>
              </a:rPr>
              <a:t>مثال‌های واقعی: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ایران‌خودرو  ▪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فولاد مبارکه اصفهان  ▪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بانک ملت  ▪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14800"/>
            <a:ext cx="4754880" cy="16459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49240" y="4114800"/>
            <a:ext cx="63500" cy="16459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1800" b="1">
                <a:solidFill>
                  <a:srgbClr val="FF8F00"/>
                </a:solidFill>
                <a:latin typeface="B Nazanin"/>
              </a:rPr>
              <a:t>نکته کلیدی:</a:t>
            </a:r>
          </a:p>
          <a:p>
            <a:pPr algn="r" a:rtl="1">
              <a:spcBef>
                <a:spcPts val="600"/>
              </a:spcBef>
              <a:spcAft>
                <a:spcPts val="300"/>
              </a:spcAft>
            </a:pPr>
            <a:r>
              <a:rPr sz="1600" b="0">
                <a:solidFill>
                  <a:srgbClr val="212121"/>
                </a:solidFill>
                <a:latin typeface="B Nazanin"/>
              </a:rPr>
              <a:t>مناسب شرکت‌های بزرگ که نیاز به جذب سرمایه‌ از عموم مردم دارند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635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3400" b="1">
                <a:solidFill>
                  <a:srgbClr val="FFFFFF"/>
                </a:solidFill>
                <a:latin typeface="B Nazanin"/>
              </a:rPr>
              <a:t>شرکت سهامی خاص</a:t>
            </a:r>
          </a:p>
          <a:p>
            <a:pPr algn="ctr" a:rtl="1">
              <a:spcBef>
                <a:spcPts val="600"/>
              </a:spcBef>
              <a:spcAft>
                <a:spcPts val="300"/>
              </a:spcAft>
            </a:pPr>
            <a:r>
              <a:rPr sz="1600" b="0">
                <a:solidFill>
                  <a:srgbClr val="BBDEFB"/>
                </a:solidFill>
                <a:latin typeface="B Nazanin"/>
              </a:rPr>
              <a:t>محبوب‌ترین نوع شرکت در ایران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463040"/>
            <a:ext cx="5790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200" b="1">
                <a:solidFill>
                  <a:srgbClr val="1A568E"/>
                </a:solidFill>
                <a:latin typeface="B Nazanin"/>
              </a:rPr>
              <a:t>ویژگی‌های اصلی: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حداقل ۳ سهامدار نیاز دارد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حداقل سرمایه: ۱ میلیون ریال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سهام قابل فروش به عموم نیست (فقط بین شرکا)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مسئولیت سهامداران محدود به سهامشان است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انعطاف‌پذیری بالا در مدیریت  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475488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000" b="1">
                <a:solidFill>
                  <a:srgbClr val="1A568E"/>
                </a:solidFill>
                <a:latin typeface="B Nazanin"/>
              </a:rPr>
              <a:t>تفاوت با سهامی عام: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سهام به عموم فروخته نمی‌شود  ✦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تعداد سهامداران کمتر  ✦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سرمایه کمتری لازم دارد  ✦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تشریفات اداری کمتر  ✦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4754880" cy="16459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49240" y="4297680"/>
            <a:ext cx="63500" cy="1645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1800" b="1">
                <a:solidFill>
                  <a:srgbClr val="2E7D32"/>
                </a:solidFill>
                <a:latin typeface="B Nazanin"/>
              </a:rPr>
              <a:t>چرا محبوب است؟</a:t>
            </a:r>
          </a:p>
          <a:p>
            <a:pPr algn="r" a:rtl="1">
              <a:spcBef>
                <a:spcPts val="600"/>
              </a:spcBef>
              <a:spcAft>
                <a:spcPts val="300"/>
              </a:spcAft>
            </a:pPr>
            <a:r>
              <a:rPr sz="1600" b="0">
                <a:solidFill>
                  <a:srgbClr val="212121"/>
                </a:solidFill>
                <a:latin typeface="B Nazanin"/>
              </a:rPr>
              <a:t>ثبت آسان، هزینه کم، مدیریت ساده و مناسب استارتاپ‌ها و کسب‌وکارهای متوسط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635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3400" b="1">
                <a:solidFill>
                  <a:srgbClr val="FFFFFF"/>
                </a:solidFill>
                <a:latin typeface="B Nazanin"/>
              </a:rPr>
              <a:t>شرکت با مسئولیت محدود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463040"/>
            <a:ext cx="5790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200" b="1">
                <a:solidFill>
                  <a:srgbClr val="1A568E"/>
                </a:solidFill>
                <a:latin typeface="B Nazanin"/>
              </a:rPr>
              <a:t>ویژگی‌های اصلی: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حداقل ۲ شریک نیاز دارد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حداقل سرمایه مشخصی ندارد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سهام ندارد، شرکا «سهم‌الشرکه» دارند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انتقال سهم‌الشرکه نیاز به موافقت اکثریت شرکا دارد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مسئولیت شرکا فقط به اندازه سهم‌الشرکه‌شان است  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4754880" cy="228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000" b="1">
                <a:solidFill>
                  <a:srgbClr val="1A568E"/>
                </a:solidFill>
                <a:latin typeface="B Nazanin"/>
              </a:rPr>
              <a:t>تفاوت سهم‌الشرکه و سهام: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سهام = ورقه‌ای که آزادانه خرید و فروش می‌شود  ▪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سهم‌الشرکه = بدون ورقه، انتقال سخت‌تر  ▪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14800"/>
            <a:ext cx="4754880" cy="1828800"/>
          </a:xfrm>
          <a:prstGeom prst="rect">
            <a:avLst/>
          </a:prstGeom>
          <a:solidFill>
            <a:srgbClr val="FD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49240" y="4114800"/>
            <a:ext cx="63500" cy="18288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389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1800" b="1">
                <a:solidFill>
                  <a:srgbClr val="C62828"/>
                </a:solidFill>
                <a:latin typeface="B Nazanin"/>
              </a:rPr>
              <a:t>مناسب برای:</a:t>
            </a:r>
          </a:p>
          <a:p>
            <a:pPr algn="r" a:rtl="1">
              <a:spcBef>
                <a:spcPts val="600"/>
              </a:spcBef>
              <a:spcAft>
                <a:spcPts val="300"/>
              </a:spcAft>
            </a:pPr>
            <a:r>
              <a:rPr sz="1600" b="0">
                <a:solidFill>
                  <a:srgbClr val="212121"/>
                </a:solidFill>
                <a:latin typeface="B Nazanin"/>
              </a:rPr>
              <a:t>کسب‌وکارهای کوچک خانوادگی، مغازه‌ها و کارگاه‌ها که شرکا همدیگر را می‌شناسند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635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3400" b="1">
                <a:solidFill>
                  <a:srgbClr val="FFFFFF"/>
                </a:solidFill>
                <a:latin typeface="B Nazanin"/>
              </a:rPr>
              <a:t>شرکت تضامنی و شرکت نسبی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5516575" cy="4572000"/>
          </a:xfrm>
          <a:prstGeom prst="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0" y="1463040"/>
            <a:ext cx="5516575" cy="635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1508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400" b="1">
                <a:solidFill>
                  <a:srgbClr val="C62828"/>
                </a:solidFill>
                <a:latin typeface="B Nazanin"/>
              </a:rPr>
              <a:t>شرکت تضامنی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شرکا مسئولیت نامحدود دارند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اگر شرکت نتواند بدهی بدهد، از جیب شرکا پرداخت می‌شود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هر شریک مسئول تمام بدهی است (نه فقط سهم خودش)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بر پایه اعتماد متقابل بین شرکا  ◆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5516575" cy="45720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5516575" cy="635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51508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400" b="1">
                <a:solidFill>
                  <a:srgbClr val="6A1B9A"/>
                </a:solidFill>
                <a:latin typeface="B Nazanin"/>
              </a:rPr>
              <a:t>شرکت نسبی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شبیه تضامنی ولی با یک تفاوت مهم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مسئولیت هر شریک به نسبت سرمایه‌اش است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مثلاً اگر ۳۰٪ سرمایه دارید، ۳۰٪ بدهی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ریسک کمتر از تضامنی  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62179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1">
                <a:solidFill>
                  <a:srgbClr val="C62828"/>
                </a:solidFill>
                <a:latin typeface="B Nazanin"/>
              </a:rPr>
              <a:t>⚠  هر دو نوع به دلیل ریسک بالا، امروزه کمتر استفاده می‌شوند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635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3400" b="1">
                <a:solidFill>
                  <a:srgbClr val="FFFFFF"/>
                </a:solidFill>
                <a:latin typeface="B Nazanin"/>
              </a:rPr>
              <a:t>شرکت تعاونی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463040"/>
            <a:ext cx="5790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200" b="1">
                <a:solidFill>
                  <a:srgbClr val="1A568E"/>
                </a:solidFill>
                <a:latin typeface="B Nazanin"/>
              </a:rPr>
              <a:t>ویژگی‌های اصلی: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حداقل ۷ عضو نیاز دارد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هدف اصلی سود نیست، بلکه خدمت به اعضا است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هر عضو فقط یک حق رأی دارد (فرقی نمی‌کند چقدر سرمایه دارد)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مدیریت دموکراتیک است  ◆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212121"/>
                </a:solidFill>
                <a:latin typeface="B Nazanin"/>
              </a:rPr>
              <a:t>از حمایت دولتی برخوردار است  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4754880" cy="2103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2000" b="1">
                <a:solidFill>
                  <a:srgbClr val="1A568E"/>
                </a:solidFill>
                <a:latin typeface="B Nazanin"/>
              </a:rPr>
              <a:t>انواع تعاونی: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تعاونی تولید (مثل تعاونی کشاورزی)  ▪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تعاونی مصرف (مثل فروشگاه تعاونی)  ▪</a:t>
            </a:r>
          </a:p>
          <a:p>
            <a:pPr algn="r" a:rtl="1"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12121"/>
                </a:solidFill>
                <a:latin typeface="B Nazanin"/>
              </a:rPr>
              <a:t>تعاونی مسکن  ▪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840480"/>
            <a:ext cx="4754880" cy="21031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49240" y="3840480"/>
            <a:ext cx="63500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1800" b="1">
                <a:solidFill>
                  <a:srgbClr val="2E7D32"/>
                </a:solidFill>
                <a:latin typeface="B Nazanin"/>
              </a:rPr>
              <a:t>مثال ساده:</a:t>
            </a:r>
          </a:p>
          <a:p>
            <a:pPr algn="r" a:rtl="1">
              <a:spcBef>
                <a:spcPts val="600"/>
              </a:spcBef>
              <a:spcAft>
                <a:spcPts val="300"/>
              </a:spcAft>
            </a:pPr>
            <a:r>
              <a:rPr sz="1600" b="0">
                <a:solidFill>
                  <a:srgbClr val="212121"/>
                </a:solidFill>
                <a:latin typeface="B Nazanin"/>
              </a:rPr>
              <a:t>فرض کنید ۱۰ کشاورز با هم شرکت تعاونی تشکیل بدهند تا محصولاتشان را با هم بفروشند و سود بیشتری ببرند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635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3400" b="1">
                <a:solidFill>
                  <a:srgbClr val="FFFFFF"/>
                </a:solidFill>
                <a:latin typeface="B Nazanin"/>
              </a:rPr>
              <a:t>مقایسه شرکت‌های پرکاربرد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200400" cy="73152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نوع شرکت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1463040"/>
            <a:ext cx="3200400" cy="73152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حداقل شرکا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463040"/>
            <a:ext cx="2103120" cy="73152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54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مسئولیت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463040"/>
            <a:ext cx="2103120" cy="73152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554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800" b="1">
                <a:solidFill>
                  <a:srgbClr val="FFFFFF"/>
                </a:solidFill>
                <a:latin typeface="B Nazanin"/>
              </a:rPr>
              <a:t>مناسب برای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194560"/>
            <a:ext cx="320040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867660"/>
            <a:ext cx="32004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2860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1">
                <a:solidFill>
                  <a:srgbClr val="1A568E"/>
                </a:solidFill>
                <a:latin typeface="B Nazanin"/>
              </a:rPr>
              <a:t>سهامی عام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2194560"/>
            <a:ext cx="320040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31920" y="2867660"/>
            <a:ext cx="32004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22860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۵ نفر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2194560"/>
            <a:ext cx="210312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0" y="2867660"/>
            <a:ext cx="210312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22860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محدود به سهام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2194560"/>
            <a:ext cx="210312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5440" y="2867660"/>
            <a:ext cx="210312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22860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شرکت‌های بزرگ بورسی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2880360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553460"/>
            <a:ext cx="32004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29718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1">
                <a:solidFill>
                  <a:srgbClr val="1A568E"/>
                </a:solidFill>
                <a:latin typeface="B Nazanin"/>
              </a:rPr>
              <a:t>سهامی خاص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2880360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31920" y="3553460"/>
            <a:ext cx="32004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23360" y="29718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۳ نفر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2880360"/>
            <a:ext cx="21031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32320" y="3553460"/>
            <a:ext cx="210312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0" y="2971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محدود به سهام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35440" y="2880360"/>
            <a:ext cx="21031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35440" y="3553460"/>
            <a:ext cx="210312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2971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استارتاپ و شرکت‌های متوسط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566160"/>
            <a:ext cx="320040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" y="4239260"/>
            <a:ext cx="32004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1">
                <a:solidFill>
                  <a:srgbClr val="1A568E"/>
                </a:solidFill>
                <a:latin typeface="B Nazanin"/>
              </a:rPr>
              <a:t>مسئولیت محدود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31920" y="3566160"/>
            <a:ext cx="320040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31920" y="4239260"/>
            <a:ext cx="32004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23360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۲ نفر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3566160"/>
            <a:ext cx="210312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0" y="4239260"/>
            <a:ext cx="210312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23760" y="36576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محدود به سهم‌الشرکه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3566160"/>
            <a:ext cx="210312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35440" y="4239260"/>
            <a:ext cx="210312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36576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کسب‌وکار کوچک و خانوادگی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4251960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1520" y="4925060"/>
            <a:ext cx="32004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1">
                <a:solidFill>
                  <a:srgbClr val="1A568E"/>
                </a:solidFill>
                <a:latin typeface="B Nazanin"/>
              </a:rPr>
              <a:t>تضامنی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931920" y="4251960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931920" y="4925060"/>
            <a:ext cx="32004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2336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۲ نفر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32320" y="4251960"/>
            <a:ext cx="21031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132320" y="4925060"/>
            <a:ext cx="210312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23760" y="43434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نامحدود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35440" y="4251960"/>
            <a:ext cx="21031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235440" y="4925060"/>
            <a:ext cx="210312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326880" y="43434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کار مبتنی بر اعتماد بالا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4937760"/>
            <a:ext cx="320040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31520" y="5610860"/>
            <a:ext cx="32004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" y="50292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1">
                <a:solidFill>
                  <a:srgbClr val="1A568E"/>
                </a:solidFill>
                <a:latin typeface="B Nazanin"/>
              </a:rPr>
              <a:t>تعاونی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31920" y="4937760"/>
            <a:ext cx="320040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31920" y="5610860"/>
            <a:ext cx="32004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23360" y="50292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۷ نفر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4937760"/>
            <a:ext cx="210312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32320" y="5610860"/>
            <a:ext cx="210312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23760" y="50292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محدود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4937760"/>
            <a:ext cx="2103120" cy="685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5440" y="5610860"/>
            <a:ext cx="210312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26880" y="50292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600" b="0">
                <a:solidFill>
                  <a:srgbClr val="212121"/>
                </a:solidFill>
                <a:latin typeface="B Nazanin"/>
              </a:rPr>
              <a:t>فعالیت‌های مشارکتی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71600" y="576072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1700" b="1">
                <a:solidFill>
                  <a:srgbClr val="1A568E"/>
                </a:solidFill>
                <a:latin typeface="B Nazanin"/>
              </a:rPr>
              <a:t>✔  برای بیشتر کارآفرینان، «سهامی خاص» یا «مسئولیت محدود» بهترین انتخاب است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1828800" cy="18288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73152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3800" b="1">
                <a:solidFill>
                  <a:srgbClr val="FFFFFF"/>
                </a:solidFill>
                <a:latin typeface="B Nazanin"/>
              </a:rPr>
              <a:t>جمع‌بندی و نکات کلیدی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828800"/>
            <a:ext cx="3962095" cy="5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/>
            <a:r>
              <a:rPr sz="1000" b="0">
                <a:solidFill>
                  <a:srgbClr val="FFFFFF"/>
                </a:solidFill>
                <a:latin typeface="B Nazanin"/>
              </a:rPr>
              <a:t/>
            </a:r>
          </a:p>
          <a:p>
            <a:pPr algn="r" a:rtl="1">
              <a:spcBef>
                <a:spcPts val="1400"/>
              </a:spcBef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B Nazanin"/>
              </a:rPr>
              <a:t>۱.  انتخاب نوع شرکت باید با توجه به نوع فعالیت، میزان سرمایه و تعداد شرکا باشد</a:t>
            </a:r>
          </a:p>
          <a:p>
            <a:pPr algn="r" a:rtl="1">
              <a:spcBef>
                <a:spcPts val="1400"/>
              </a:spcBef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B Nazanin"/>
              </a:rPr>
              <a:t>۲.  سهامی خاص و مسئولیت محدود محبوب‌ترین و عملی‌ترین گزینه‌ها هستند</a:t>
            </a:r>
          </a:p>
          <a:p>
            <a:pPr algn="r" a:rtl="1">
              <a:spcBef>
                <a:spcPts val="1400"/>
              </a:spcBef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B Nazanin"/>
              </a:rPr>
              <a:t>۳.  هرچه مسئولیت شرکا بیشتر باشد، ریسک بالاتر ولی اعتبار شرکت بیشتر است</a:t>
            </a:r>
          </a:p>
          <a:p>
            <a:pPr algn="r" a:rtl="1">
              <a:spcBef>
                <a:spcPts val="1400"/>
              </a:spcBef>
              <a:spcAft>
                <a:spcPts val="800"/>
              </a:spcAft>
            </a:pPr>
            <a:r>
              <a:rPr sz="1900" b="1">
                <a:solidFill>
                  <a:srgbClr val="BBDEFB"/>
                </a:solidFill>
                <a:latin typeface="B Nazanin"/>
              </a:rPr>
              <a:t>۴.  برای کارآفرینی، ابتدا سهامی خاص را در نظر بگیرید</a:t>
            </a:r>
          </a:p>
        </p:txBody>
      </p:sp>
      <p:sp>
        <p:nvSpPr>
          <p:cNvPr id="8" name="Oval 7"/>
          <p:cNvSpPr/>
          <p:nvPr/>
        </p:nvSpPr>
        <p:spPr>
          <a:xfrm>
            <a:off x="5029200" y="5943600"/>
            <a:ext cx="109728" cy="109728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40680" y="5943600"/>
            <a:ext cx="109728" cy="109728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852160" y="5943600"/>
            <a:ext cx="109728" cy="109728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3640" y="5943600"/>
            <a:ext cx="109728" cy="109728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0" y="5943600"/>
            <a:ext cx="109728" cy="109728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6217920"/>
            <a:ext cx="6705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/>
            <a:r>
              <a:rPr sz="2200" b="0">
                <a:solidFill>
                  <a:srgbClr val="BBDEFB"/>
                </a:solidFill>
                <a:latin typeface="B Nazanin"/>
              </a:rPr>
              <a:t>با تشکر از توجه شما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