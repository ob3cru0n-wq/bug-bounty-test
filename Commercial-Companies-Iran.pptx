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cad6a1bd-7ba3-a1a1-cb0e-26223dc54f41}">
          <p14:sldIdLst>
            <p14:sldId id="256"/>
          </p14:sldIdLst>
        </p14:section>
        <p14:section name="WhatIs" id="{1178d2fa-1673-7099-1b95-267acd5b4d4c}">
          <p14:sldIdLst>
            <p14:sldId id="257"/>
          </p14:sldIdLst>
        </p14:section>
        <p14:section name="Overview" id="{e0350f92-ac01-9649-2fd2-9ef8e6178f79}">
          <p14:sldIdLst>
            <p14:sldId id="258"/>
          </p14:sldIdLst>
        </p14:section>
        <p14:section name="SahamiAam" id="{b0a99f3c-ed77-6d67-b402-933364af3d1d}">
          <p14:sldIdLst>
            <p14:sldId id="259"/>
          </p14:sldIdLst>
        </p14:section>
        <p14:section name="SahamiKhas" id="{e3f09977-5b65-56ca-10ed-b47da9367872}">
          <p14:sldIdLst>
            <p14:sldId id="260"/>
          </p14:sldIdLst>
        </p14:section>
        <p14:section name="Masooliyat" id="{ba379a76-7197-69ac-3016-f4cb7796fd27}">
          <p14:sldIdLst>
            <p14:sldId id="261"/>
          </p14:sldIdLst>
        </p14:section>
        <p14:section name="TazamoniNesbi" id="{7662a102-9c98-49f6-c56d-08e848acb0ed}">
          <p14:sldIdLst>
            <p14:sldId id="262"/>
          </p14:sldIdLst>
        </p14:section>
        <p14:section name="Taavoni" id="{83eb533b-62dd-aacd-678c-2a7b9be0acd2}">
          <p14:sldIdLst>
            <p14:sldId id="263"/>
          </p14:sldIdLst>
        </p14:section>
        <p14:section name="Comparison" id="{cfea10e3-962c-9dc4-fb1b-7e3a22d5268b}">
          <p14:sldIdLst>
            <p14:sldId id="264"/>
          </p14:sldIdLst>
        </p14:section>
        <p14:section name="Close" id="{320aac8a-a190-cdc5-6c7a-63454f2cfc63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- Commercial Companies in Iran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a commercial company? Definition and key stats.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all 8 types of commercial companies in Iranian law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Sahami Aam - Public Joint Stock Company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Sahami Khas - Private Joint Stock Company - Most popular type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 Masooliyat Mahdood - LLC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Tazamoni (General Partnership) and Nesbi (Proportional Partnership)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Taavoni - Cooperative Company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Comparison table of common company types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 - 4 key takeaways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2563EB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4114800"/>
            <a:ext cx="3657600" cy="3657600"/>
          </a:xfrm>
          <a:prstGeom prst="ellipse">
            <a:avLst/>
          </a:prstGeom>
          <a:solidFill>
            <a:srgbClr val="7C3AED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0" y="-914400"/>
            <a:ext cx="2286000" cy="2286000"/>
          </a:xfrm>
          <a:prstGeom prst="ellipse">
            <a:avLst/>
          </a:prstGeom>
          <a:solidFill>
            <a:srgbClr val="0891B2">
              <a:alpha val="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14400" y="5029200"/>
            <a:ext cx="2286000" cy="2286000"/>
          </a:xfrm>
          <a:prstGeom prst="ellipse">
            <a:avLst/>
          </a:prstGeom>
          <a:solidFill>
            <a:srgbClr val="059669">
              <a:alpha val="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c1-1"/>
          <p:cNvSpPr txBox="1"/>
          <p:nvPr/>
        </p:nvSpPr>
        <p:spPr>
          <a:xfrm>
            <a:off x="731520" y="10972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B Titr" pitchFamily="34" charset="0"/>
                <a:ea typeface="B Titr" pitchFamily="34" charset="-122"/>
                <a:cs typeface="B Titr" pitchFamily="34" charset="-120"/>
              </a:rPr>
              <a:t>انواع شرکت‌های تجاری</a:t>
            </a:r>
            <a:endParaRPr lang="en-US" sz="5000" dirty="0"/>
          </a:p>
        </p:txBody>
      </p:sp>
      <p:sp>
        <p:nvSpPr>
          <p:cNvPr id="7" name="c1-2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B Titr" pitchFamily="34" charset="0"/>
                <a:ea typeface="B Titr" pitchFamily="34" charset="-122"/>
                <a:cs typeface="B Titr" pitchFamily="34" charset="-120"/>
              </a:rPr>
              <a:t>متداول در ایران</a:t>
            </a:r>
            <a:endParaRPr lang="en-US" sz="3600" dirty="0"/>
          </a:p>
        </p:txBody>
      </p:sp>
      <p:sp>
        <p:nvSpPr>
          <p:cNvPr id="8" name="c2-3"/>
          <p:cNvSpPr/>
          <p:nvPr/>
        </p:nvSpPr>
        <p:spPr>
          <a:xfrm>
            <a:off x="3657600" y="3291840"/>
            <a:ext cx="48463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9" name="c2-4"/>
          <p:cNvSpPr txBox="1"/>
          <p:nvPr/>
        </p:nvSpPr>
        <p:spPr>
          <a:xfrm>
            <a:off x="731520" y="3520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بررسی ساختار، ویژگی‌ها و کاربرد شرکت‌های تجاری در حقوق تجارت ایران</a:t>
            </a:r>
            <a:endParaRPr lang="en-US" sz="1500" dirty="0"/>
          </a:p>
        </p:txBody>
      </p:sp>
      <p:sp>
        <p:nvSpPr>
          <p:cNvPr id="10" name="c3-5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درس کارآفرینی  ◈  دانشکده مهندسی کامپیوتر</a:t>
            </a:r>
            <a:endParaRPr lang="en-US" sz="1600" dirty="0"/>
          </a:p>
        </p:txBody>
      </p:sp>
      <p:sp>
        <p:nvSpPr>
          <p:cNvPr id="11" name="c3-6"/>
          <p:cNvSpPr txBox="1"/>
          <p:nvPr/>
        </p:nvSpPr>
        <p:spPr>
          <a:xfrm>
            <a:off x="731520" y="49377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ارائه‌دهندگان:</a:t>
            </a:r>
            <a:endParaRPr lang="en-US" sz="1300" dirty="0"/>
          </a:p>
        </p:txBody>
      </p:sp>
      <p:sp>
        <p:nvSpPr>
          <p:cNvPr id="12" name="c3-7"/>
          <p:cNvSpPr txBox="1"/>
          <p:nvPr/>
        </p:nvSpPr>
        <p:spPr>
          <a:xfrm>
            <a:off x="731520" y="53035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پارسا قربانعلی  ◈  متین فهیمی  ◈  امیرحسین شاه‌خواجه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4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30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30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1-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c1-2bg"/>
          <p:cNvSpPr/>
          <p:nvPr/>
        </p:nvSpPr>
        <p:spPr>
          <a:xfrm>
            <a:off x="640080" y="274320"/>
            <a:ext cx="731520" cy="731520"/>
          </a:xfrm>
          <a:prstGeom prst="ellipse">
            <a:avLst/>
          </a:prstGeom>
          <a:solidFill>
            <a:srgbClr val="2563EB">
              <a:alpha val="20000"/>
            </a:srgbClr>
          </a:solidFill>
          <a:ln/>
        </p:spPr>
      </p:sp>
      <p:pic>
        <p:nvPicPr>
          <p:cNvPr id="4" name="c1-2ic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420624"/>
            <a:ext cx="438912" cy="438912"/>
          </a:xfrm>
          <a:prstGeom prst="rect">
            <a:avLst/>
          </a:prstGeom>
        </p:spPr>
      </p:pic>
      <p:sp>
        <p:nvSpPr>
          <p:cNvPr id="5" name="c1-3"/>
          <p:cNvSpPr txBox="1"/>
          <p:nvPr/>
        </p:nvSpPr>
        <p:spPr>
          <a:xfrm>
            <a:off x="1554480" y="3200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E293B"/>
                </a:solidFill>
                <a:latin typeface="B Titr" pitchFamily="34" charset="0"/>
                <a:ea typeface="B Titr" pitchFamily="34" charset="-122"/>
                <a:cs typeface="B Titr" pitchFamily="34" charset="-120"/>
              </a:rPr>
              <a:t>شرکت تجاری چیست؟</a:t>
            </a:r>
            <a:endParaRPr lang="en-US" sz="3800" dirty="0"/>
          </a:p>
        </p:txBody>
      </p:sp>
      <p:sp>
        <p:nvSpPr>
          <p:cNvPr id="6" name="c2-4"/>
          <p:cNvSpPr/>
          <p:nvPr/>
        </p:nvSpPr>
        <p:spPr>
          <a:xfrm>
            <a:off x="640080" y="1371600"/>
            <a:ext cx="10881360" cy="1280160"/>
          </a:xfrm>
          <a:prstGeom prst="roundRect">
            <a:avLst>
              <a:gd name="adj" fmla="val 10714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27000" dist="38100" dir="16200000">
              <a:srgbClr val="000000">
                <a:alpha val="7000"/>
              </a:srgbClr>
            </a:outerShdw>
          </a:effectLst>
        </p:spPr>
      </p:sp>
      <p:sp>
        <p:nvSpPr>
          <p:cNvPr id="7" name="c2-5"/>
          <p:cNvSpPr txBox="1"/>
          <p:nvPr/>
        </p:nvSpPr>
        <p:spPr>
          <a:xfrm>
            <a:off x="914400" y="1463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تعریف ساده:</a:t>
            </a:r>
            <a:endParaRPr lang="en-US" sz="1600" dirty="0"/>
          </a:p>
        </p:txBody>
      </p:sp>
      <p:sp>
        <p:nvSpPr>
          <p:cNvPr id="8" name="c2-6"/>
          <p:cNvSpPr txBox="1"/>
          <p:nvPr/>
        </p:nvSpPr>
        <p:spPr>
          <a:xfrm>
            <a:off x="914400" y="18745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وقتی دو یا چند نفر پول یا مهارتشون رو کنار هم بذارن و با هم یک فعالیت تجاری انجام بدن تا سود کنن، یک شرکت تجاری تشکیل دادن.</a:t>
            </a:r>
            <a:endParaRPr lang="en-US" sz="1400" dirty="0"/>
          </a:p>
        </p:txBody>
      </p:sp>
      <p:sp>
        <p:nvSpPr>
          <p:cNvPr id="9" name="c3-7"/>
          <p:cNvSpPr/>
          <p:nvPr/>
        </p:nvSpPr>
        <p:spPr>
          <a:xfrm>
            <a:off x="457200" y="3108960"/>
            <a:ext cx="26517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c3-8"/>
          <p:cNvSpPr/>
          <p:nvPr/>
        </p:nvSpPr>
        <p:spPr>
          <a:xfrm>
            <a:off x="457200" y="3163824"/>
            <a:ext cx="2651760" cy="2286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27000" dist="38100" dir="16200000">
              <a:srgbClr val="000000">
                <a:alpha val="7000"/>
              </a:srgbClr>
            </a:outerShdw>
          </a:effectLst>
        </p:spPr>
      </p:sp>
      <p:sp>
        <p:nvSpPr>
          <p:cNvPr id="11" name="c3-9"/>
          <p:cNvSpPr txBox="1"/>
          <p:nvPr/>
        </p:nvSpPr>
        <p:spPr>
          <a:xfrm>
            <a:off x="457200" y="32918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B Titr" pitchFamily="34" charset="0"/>
                <a:ea typeface="B Titr" pitchFamily="34" charset="-122"/>
                <a:cs typeface="B Titr" pitchFamily="34" charset="-120"/>
              </a:rPr>
              <a:t>۹۰٪</a:t>
            </a:r>
            <a:endParaRPr lang="en-US" sz="3600" dirty="0"/>
          </a:p>
        </p:txBody>
      </p:sp>
      <p:sp>
        <p:nvSpPr>
          <p:cNvPr id="12" name="c3-10"/>
          <p:cNvSpPr txBox="1"/>
          <p:nvPr/>
        </p:nvSpPr>
        <p:spPr>
          <a:xfrm>
            <a:off x="457200" y="411480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محبوب‌ترین‌ها:</a:t>
            </a:r>
            <a:endParaRPr lang="en-US" sz="1200" dirty="0"/>
          </a:p>
          <a:p>
            <a:pPr rtl="1"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سهامی خاص و مسئولیت محدود</a:t>
            </a:r>
            <a:endParaRPr lang="en-US" sz="1200" dirty="0"/>
          </a:p>
        </p:txBody>
      </p:sp>
      <p:sp>
        <p:nvSpPr>
          <p:cNvPr id="13" name="c3-11"/>
          <p:cNvSpPr/>
          <p:nvPr/>
        </p:nvSpPr>
        <p:spPr>
          <a:xfrm>
            <a:off x="3383280" y="3108960"/>
            <a:ext cx="26517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c3-12"/>
          <p:cNvSpPr/>
          <p:nvPr/>
        </p:nvSpPr>
        <p:spPr>
          <a:xfrm>
            <a:off x="3383280" y="3163824"/>
            <a:ext cx="2651760" cy="2286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27000" dist="38100" dir="16200000">
              <a:srgbClr val="000000">
                <a:alpha val="7000"/>
              </a:srgbClr>
            </a:outerShdw>
          </a:effectLst>
        </p:spPr>
      </p:sp>
      <p:sp>
        <p:nvSpPr>
          <p:cNvPr id="15" name="c3-13"/>
          <p:cNvSpPr txBox="1"/>
          <p:nvPr/>
        </p:nvSpPr>
        <p:spPr>
          <a:xfrm>
            <a:off x="3383280" y="32918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B Titr" pitchFamily="34" charset="0"/>
                <a:ea typeface="B Titr" pitchFamily="34" charset="-122"/>
                <a:cs typeface="B Titr" pitchFamily="34" charset="-120"/>
              </a:rPr>
              <a:t>۳</a:t>
            </a:r>
            <a:endParaRPr lang="en-US" sz="3600" dirty="0"/>
          </a:p>
        </p:txBody>
      </p:sp>
      <p:sp>
        <p:nvSpPr>
          <p:cNvPr id="16" name="c3-14"/>
          <p:cNvSpPr txBox="1"/>
          <p:nvPr/>
        </p:nvSpPr>
        <p:spPr>
          <a:xfrm>
            <a:off x="3383280" y="411480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عامل انتخاب:</a:t>
            </a:r>
            <a:endParaRPr lang="en-US" sz="1200" dirty="0"/>
          </a:p>
          <a:p>
            <a:pPr rtl="1"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نوع کار، تعداد شرکا، سرمایه</a:t>
            </a:r>
            <a:endParaRPr lang="en-US" sz="1200" dirty="0"/>
          </a:p>
        </p:txBody>
      </p:sp>
      <p:sp>
        <p:nvSpPr>
          <p:cNvPr id="17" name="c3-15"/>
          <p:cNvSpPr/>
          <p:nvPr/>
        </p:nvSpPr>
        <p:spPr>
          <a:xfrm>
            <a:off x="6309360" y="3108960"/>
            <a:ext cx="26517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c3-16"/>
          <p:cNvSpPr/>
          <p:nvPr/>
        </p:nvSpPr>
        <p:spPr>
          <a:xfrm>
            <a:off x="6309360" y="3163824"/>
            <a:ext cx="2651760" cy="2286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27000" dist="38100" dir="16200000">
              <a:srgbClr val="000000">
                <a:alpha val="7000"/>
              </a:srgbClr>
            </a:outerShdw>
          </a:effectLst>
        </p:spPr>
      </p:sp>
      <p:sp>
        <p:nvSpPr>
          <p:cNvPr id="19" name="c3-17"/>
          <p:cNvSpPr txBox="1"/>
          <p:nvPr/>
        </p:nvSpPr>
        <p:spPr>
          <a:xfrm>
            <a:off x="6309360" y="32918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600" b="1" dirty="0">
                <a:solidFill>
                  <a:srgbClr val="0891B2"/>
                </a:solidFill>
                <a:latin typeface="B Titr" pitchFamily="34" charset="0"/>
                <a:ea typeface="B Titr" pitchFamily="34" charset="-122"/>
                <a:cs typeface="B Titr" pitchFamily="34" charset="-120"/>
              </a:rPr>
              <a:t>۷</a:t>
            </a:r>
            <a:endParaRPr lang="en-US" sz="3600" dirty="0"/>
          </a:p>
        </p:txBody>
      </p:sp>
      <p:sp>
        <p:nvSpPr>
          <p:cNvPr id="20" name="c3-18"/>
          <p:cNvSpPr txBox="1"/>
          <p:nvPr/>
        </p:nvSpPr>
        <p:spPr>
          <a:xfrm>
            <a:off x="6309360" y="411480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نوع شرکت در</a:t>
            </a:r>
            <a:endParaRPr lang="en-US" sz="1200" dirty="0"/>
          </a:p>
          <a:p>
            <a:pPr rtl="1"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قانون تجارت ماده ۲۰</a:t>
            </a:r>
            <a:endParaRPr lang="en-US" sz="1200" dirty="0"/>
          </a:p>
        </p:txBody>
      </p:sp>
      <p:sp>
        <p:nvSpPr>
          <p:cNvPr id="21" name="c3-19"/>
          <p:cNvSpPr/>
          <p:nvPr/>
        </p:nvSpPr>
        <p:spPr>
          <a:xfrm>
            <a:off x="9235440" y="3108960"/>
            <a:ext cx="265176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c3-20"/>
          <p:cNvSpPr/>
          <p:nvPr/>
        </p:nvSpPr>
        <p:spPr>
          <a:xfrm>
            <a:off x="9235440" y="3163824"/>
            <a:ext cx="2651760" cy="2286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27000" dist="38100" dir="16200000">
              <a:srgbClr val="000000">
                <a:alpha val="7000"/>
              </a:srgbClr>
            </a:outerShdw>
          </a:effectLst>
        </p:spPr>
      </p:sp>
      <p:sp>
        <p:nvSpPr>
          <p:cNvPr id="23" name="c3-21"/>
          <p:cNvSpPr txBox="1"/>
          <p:nvPr/>
        </p:nvSpPr>
        <p:spPr>
          <a:xfrm>
            <a:off x="9235440" y="32918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B Titr" pitchFamily="34" charset="0"/>
                <a:ea typeface="B Titr" pitchFamily="34" charset="-122"/>
                <a:cs typeface="B Titr" pitchFamily="34" charset="-120"/>
              </a:rPr>
              <a:t>+۱</a:t>
            </a:r>
            <a:endParaRPr lang="en-US" sz="3600" dirty="0"/>
          </a:p>
        </p:txBody>
      </p:sp>
      <p:sp>
        <p:nvSpPr>
          <p:cNvPr id="24" name="c3-22"/>
          <p:cNvSpPr txBox="1"/>
          <p:nvPr/>
        </p:nvSpPr>
        <p:spPr>
          <a:xfrm>
            <a:off x="9235440" y="411480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شرکت تعاونی</a:t>
            </a:r>
            <a:endParaRPr lang="en-US" sz="1200" dirty="0"/>
          </a:p>
          <a:p>
            <a:pPr rtl="1"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در قانون جداگانه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4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30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30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4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1-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c1-2bg"/>
          <p:cNvSpPr/>
          <p:nvPr/>
        </p:nvSpPr>
        <p:spPr>
          <a:xfrm>
            <a:off x="640080" y="274320"/>
            <a:ext cx="731520" cy="731520"/>
          </a:xfrm>
          <a:prstGeom prst="ellipse">
            <a:avLst/>
          </a:prstGeom>
          <a:solidFill>
            <a:srgbClr val="7C3AED">
              <a:alpha val="20000"/>
            </a:srgbClr>
          </a:solidFill>
          <a:ln/>
        </p:spPr>
      </p:sp>
      <p:pic>
        <p:nvPicPr>
          <p:cNvPr id="4" name="c1-2ic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420624"/>
            <a:ext cx="438912" cy="438912"/>
          </a:xfrm>
          <a:prstGeom prst="rect">
            <a:avLst/>
          </a:prstGeom>
        </p:spPr>
      </p:pic>
      <p:sp>
        <p:nvSpPr>
          <p:cNvPr id="5" name="c1-3"/>
          <p:cNvSpPr txBox="1"/>
          <p:nvPr/>
        </p:nvSpPr>
        <p:spPr>
          <a:xfrm>
            <a:off x="1554480" y="2743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B Titr" pitchFamily="34" charset="0"/>
                <a:ea typeface="B Titr" pitchFamily="34" charset="-122"/>
                <a:cs typeface="B Titr" pitchFamily="34" charset="-120"/>
              </a:rPr>
              <a:t>نمای کلی: انواع شرکت‌های تجاری ایران</a:t>
            </a:r>
            <a:endParaRPr lang="en-US" sz="3400" dirty="0"/>
          </a:p>
        </p:txBody>
      </p:sp>
      <p:sp>
        <p:nvSpPr>
          <p:cNvPr id="6" name="c2-4"/>
          <p:cNvSpPr/>
          <p:nvPr/>
        </p:nvSpPr>
        <p:spPr>
          <a:xfrm>
            <a:off x="2514600" y="150876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" name="c2-5"/>
          <p:cNvSpPr txBox="1"/>
          <p:nvPr/>
        </p:nvSpPr>
        <p:spPr>
          <a:xfrm>
            <a:off x="25146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۱</a:t>
            </a:r>
            <a:endParaRPr lang="en-US" sz="1600" dirty="0"/>
          </a:p>
        </p:txBody>
      </p:sp>
      <p:sp>
        <p:nvSpPr>
          <p:cNvPr id="8" name="c2-6"/>
          <p:cNvSpPr/>
          <p:nvPr/>
        </p:nvSpPr>
        <p:spPr>
          <a:xfrm>
            <a:off x="365760" y="1371600"/>
            <a:ext cx="2743200" cy="2011680"/>
          </a:xfrm>
          <a:prstGeom prst="roundRect">
            <a:avLst>
              <a:gd name="adj" fmla="val 681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27000" dist="38100" dir="16200000">
              <a:srgbClr val="000000">
                <a:alpha val="7000"/>
              </a:srgbClr>
            </a:outerShdw>
          </a:effectLst>
        </p:spPr>
      </p:sp>
      <p:sp>
        <p:nvSpPr>
          <p:cNvPr id="9" name="c2-7"/>
          <p:cNvSpPr txBox="1"/>
          <p:nvPr/>
        </p:nvSpPr>
        <p:spPr>
          <a:xfrm>
            <a:off x="502920" y="16916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شرکت سهامی عام</a:t>
            </a:r>
            <a:endParaRPr lang="en-US" sz="1600" dirty="0"/>
          </a:p>
        </p:txBody>
      </p:sp>
      <p:sp>
        <p:nvSpPr>
          <p:cNvPr id="10" name="c2-8"/>
          <p:cNvSpPr/>
          <p:nvPr/>
        </p:nvSpPr>
        <p:spPr>
          <a:xfrm>
            <a:off x="640080" y="246888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7C3AED">
              <a:alpha val="12000"/>
            </a:srgbClr>
          </a:solidFill>
          <a:ln/>
        </p:spPr>
      </p:sp>
      <p:sp>
        <p:nvSpPr>
          <p:cNvPr id="11" name="c2-9"/>
          <p:cNvSpPr txBox="1"/>
          <p:nvPr/>
        </p:nvSpPr>
        <p:spPr>
          <a:xfrm>
            <a:off x="640080" y="2468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بورسی • سرمایه بزرگ</a:t>
            </a:r>
            <a:endParaRPr lang="en-US" sz="1100" dirty="0"/>
          </a:p>
        </p:txBody>
      </p:sp>
      <p:sp>
        <p:nvSpPr>
          <p:cNvPr id="12" name="c2-10"/>
          <p:cNvSpPr/>
          <p:nvPr/>
        </p:nvSpPr>
        <p:spPr>
          <a:xfrm>
            <a:off x="5440680" y="150876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c2-11"/>
          <p:cNvSpPr txBox="1"/>
          <p:nvPr/>
        </p:nvSpPr>
        <p:spPr>
          <a:xfrm>
            <a:off x="54406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۲</a:t>
            </a:r>
            <a:endParaRPr lang="en-US" sz="1600" dirty="0"/>
          </a:p>
        </p:txBody>
      </p:sp>
      <p:sp>
        <p:nvSpPr>
          <p:cNvPr id="14" name="c2-12"/>
          <p:cNvSpPr/>
          <p:nvPr/>
        </p:nvSpPr>
        <p:spPr>
          <a:xfrm>
            <a:off x="3291840" y="1371600"/>
            <a:ext cx="2743200" cy="2011680"/>
          </a:xfrm>
          <a:prstGeom prst="roundRect">
            <a:avLst>
              <a:gd name="adj" fmla="val 681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27000" dist="38100" dir="16200000">
              <a:srgbClr val="000000">
                <a:alpha val="7000"/>
              </a:srgbClr>
            </a:outerShdw>
          </a:effectLst>
        </p:spPr>
      </p:sp>
      <p:sp>
        <p:nvSpPr>
          <p:cNvPr id="15" name="c2-13"/>
          <p:cNvSpPr txBox="1"/>
          <p:nvPr/>
        </p:nvSpPr>
        <p:spPr>
          <a:xfrm>
            <a:off x="3429000" y="16916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شرکت سهامی خاص</a:t>
            </a:r>
            <a:endParaRPr lang="en-US" sz="1600" dirty="0"/>
          </a:p>
        </p:txBody>
      </p:sp>
      <p:sp>
        <p:nvSpPr>
          <p:cNvPr id="16" name="c2-14"/>
          <p:cNvSpPr/>
          <p:nvPr/>
        </p:nvSpPr>
        <p:spPr>
          <a:xfrm>
            <a:off x="3566160" y="246888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2563EB">
              <a:alpha val="12000"/>
            </a:srgbClr>
          </a:solidFill>
          <a:ln/>
        </p:spPr>
      </p:sp>
      <p:sp>
        <p:nvSpPr>
          <p:cNvPr id="17" name="c2-15"/>
          <p:cNvSpPr txBox="1"/>
          <p:nvPr/>
        </p:nvSpPr>
        <p:spPr>
          <a:xfrm>
            <a:off x="3566160" y="2468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محبوب‌ترین نوع شرکت</a:t>
            </a:r>
            <a:endParaRPr lang="en-US" sz="1100" dirty="0"/>
          </a:p>
        </p:txBody>
      </p:sp>
      <p:sp>
        <p:nvSpPr>
          <p:cNvPr id="18" name="c2-16"/>
          <p:cNvSpPr/>
          <p:nvPr/>
        </p:nvSpPr>
        <p:spPr>
          <a:xfrm>
            <a:off x="8366760" y="150876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9" name="c2-17"/>
          <p:cNvSpPr txBox="1"/>
          <p:nvPr/>
        </p:nvSpPr>
        <p:spPr>
          <a:xfrm>
            <a:off x="836676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۳</a:t>
            </a:r>
            <a:endParaRPr lang="en-US" sz="1600" dirty="0"/>
          </a:p>
        </p:txBody>
      </p:sp>
      <p:sp>
        <p:nvSpPr>
          <p:cNvPr id="20" name="c2-18"/>
          <p:cNvSpPr/>
          <p:nvPr/>
        </p:nvSpPr>
        <p:spPr>
          <a:xfrm>
            <a:off x="6217920" y="1371600"/>
            <a:ext cx="2743200" cy="2011680"/>
          </a:xfrm>
          <a:prstGeom prst="roundRect">
            <a:avLst>
              <a:gd name="adj" fmla="val 681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27000" dist="38100" dir="16200000">
              <a:srgbClr val="000000">
                <a:alpha val="7000"/>
              </a:srgbClr>
            </a:outerShdw>
          </a:effectLst>
        </p:spPr>
      </p:sp>
      <p:sp>
        <p:nvSpPr>
          <p:cNvPr id="21" name="c2-19"/>
          <p:cNvSpPr txBox="1"/>
          <p:nvPr/>
        </p:nvSpPr>
        <p:spPr>
          <a:xfrm>
            <a:off x="6355080" y="16916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شرکت مسئولیت محدود</a:t>
            </a:r>
            <a:endParaRPr lang="en-US" sz="1600" dirty="0"/>
          </a:p>
        </p:txBody>
      </p:sp>
      <p:sp>
        <p:nvSpPr>
          <p:cNvPr id="22" name="c2-20"/>
          <p:cNvSpPr/>
          <p:nvPr/>
        </p:nvSpPr>
        <p:spPr>
          <a:xfrm>
            <a:off x="6492240" y="246888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0891B2">
              <a:alpha val="12000"/>
            </a:srgbClr>
          </a:solidFill>
          <a:ln/>
        </p:spPr>
      </p:sp>
      <p:sp>
        <p:nvSpPr>
          <p:cNvPr id="23" name="c2-21"/>
          <p:cNvSpPr txBox="1"/>
          <p:nvPr/>
        </p:nvSpPr>
        <p:spPr>
          <a:xfrm>
            <a:off x="6492240" y="2468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مناسب کسب‌وکار کوچک</a:t>
            </a:r>
            <a:endParaRPr lang="en-US" sz="1100" dirty="0"/>
          </a:p>
        </p:txBody>
      </p:sp>
      <p:sp>
        <p:nvSpPr>
          <p:cNvPr id="24" name="c2-22"/>
          <p:cNvSpPr/>
          <p:nvPr/>
        </p:nvSpPr>
        <p:spPr>
          <a:xfrm>
            <a:off x="11292840" y="1508760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5" name="c2-23"/>
          <p:cNvSpPr txBox="1"/>
          <p:nvPr/>
        </p:nvSpPr>
        <p:spPr>
          <a:xfrm>
            <a:off x="112928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۴</a:t>
            </a:r>
            <a:endParaRPr lang="en-US" sz="1600" dirty="0"/>
          </a:p>
        </p:txBody>
      </p:sp>
      <p:sp>
        <p:nvSpPr>
          <p:cNvPr id="26" name="c2-24"/>
          <p:cNvSpPr/>
          <p:nvPr/>
        </p:nvSpPr>
        <p:spPr>
          <a:xfrm>
            <a:off x="9144000" y="1371600"/>
            <a:ext cx="2743200" cy="2011680"/>
          </a:xfrm>
          <a:prstGeom prst="roundRect">
            <a:avLst>
              <a:gd name="adj" fmla="val 681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27000" dist="38100" dir="16200000">
              <a:srgbClr val="000000">
                <a:alpha val="7000"/>
              </a:srgbClr>
            </a:outerShdw>
          </a:effectLst>
        </p:spPr>
      </p:sp>
      <p:sp>
        <p:nvSpPr>
          <p:cNvPr id="27" name="c2-25"/>
          <p:cNvSpPr txBox="1"/>
          <p:nvPr/>
        </p:nvSpPr>
        <p:spPr>
          <a:xfrm>
            <a:off x="9281160" y="16916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شرکت تضامنی</a:t>
            </a:r>
            <a:endParaRPr lang="en-US" sz="1600" dirty="0"/>
          </a:p>
        </p:txBody>
      </p:sp>
      <p:sp>
        <p:nvSpPr>
          <p:cNvPr id="28" name="c2-26"/>
          <p:cNvSpPr/>
          <p:nvPr/>
        </p:nvSpPr>
        <p:spPr>
          <a:xfrm>
            <a:off x="9418320" y="246888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DC2626">
              <a:alpha val="12000"/>
            </a:srgbClr>
          </a:solidFill>
          <a:ln/>
        </p:spPr>
      </p:sp>
      <p:sp>
        <p:nvSpPr>
          <p:cNvPr id="29" name="c2-27"/>
          <p:cNvSpPr txBox="1"/>
          <p:nvPr/>
        </p:nvSpPr>
        <p:spPr>
          <a:xfrm>
            <a:off x="9418320" y="2468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مسئولیت نامحدود شرکا</a:t>
            </a:r>
            <a:endParaRPr lang="en-US" sz="1100" dirty="0"/>
          </a:p>
        </p:txBody>
      </p:sp>
      <p:sp>
        <p:nvSpPr>
          <p:cNvPr id="30" name="c3-28"/>
          <p:cNvSpPr/>
          <p:nvPr/>
        </p:nvSpPr>
        <p:spPr>
          <a:xfrm>
            <a:off x="2514600" y="397764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1" name="c3-29"/>
          <p:cNvSpPr txBox="1"/>
          <p:nvPr/>
        </p:nvSpPr>
        <p:spPr>
          <a:xfrm>
            <a:off x="251460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۵</a:t>
            </a:r>
            <a:endParaRPr lang="en-US" sz="1600" dirty="0"/>
          </a:p>
        </p:txBody>
      </p:sp>
      <p:sp>
        <p:nvSpPr>
          <p:cNvPr id="32" name="c3-30"/>
          <p:cNvSpPr/>
          <p:nvPr/>
        </p:nvSpPr>
        <p:spPr>
          <a:xfrm>
            <a:off x="365760" y="3840480"/>
            <a:ext cx="2743200" cy="2011680"/>
          </a:xfrm>
          <a:prstGeom prst="roundRect">
            <a:avLst>
              <a:gd name="adj" fmla="val 681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27000" dist="38100" dir="16200000">
              <a:srgbClr val="000000">
                <a:alpha val="7000"/>
              </a:srgbClr>
            </a:outerShdw>
          </a:effectLst>
        </p:spPr>
      </p:sp>
      <p:sp>
        <p:nvSpPr>
          <p:cNvPr id="33" name="c3-31"/>
          <p:cNvSpPr txBox="1"/>
          <p:nvPr/>
        </p:nvSpPr>
        <p:spPr>
          <a:xfrm>
            <a:off x="502920" y="41605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شرکت نسبی</a:t>
            </a:r>
            <a:endParaRPr lang="en-US" sz="1600" dirty="0"/>
          </a:p>
        </p:txBody>
      </p:sp>
      <p:sp>
        <p:nvSpPr>
          <p:cNvPr id="34" name="c3-32"/>
          <p:cNvSpPr/>
          <p:nvPr/>
        </p:nvSpPr>
        <p:spPr>
          <a:xfrm>
            <a:off x="640080" y="493776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D97706">
              <a:alpha val="12000"/>
            </a:srgbClr>
          </a:solidFill>
          <a:ln/>
        </p:spPr>
      </p:sp>
      <p:sp>
        <p:nvSpPr>
          <p:cNvPr id="35" name="c3-33"/>
          <p:cNvSpPr txBox="1"/>
          <p:nvPr/>
        </p:nvSpPr>
        <p:spPr>
          <a:xfrm>
            <a:off x="640080" y="4937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مسئولیت به نسبت سرمایه</a:t>
            </a:r>
            <a:endParaRPr lang="en-US" sz="1100" dirty="0"/>
          </a:p>
        </p:txBody>
      </p:sp>
      <p:sp>
        <p:nvSpPr>
          <p:cNvPr id="36" name="c3-34"/>
          <p:cNvSpPr/>
          <p:nvPr/>
        </p:nvSpPr>
        <p:spPr>
          <a:xfrm>
            <a:off x="5440680" y="3977640"/>
            <a:ext cx="457200" cy="45720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37" name="c3-35"/>
          <p:cNvSpPr txBox="1"/>
          <p:nvPr/>
        </p:nvSpPr>
        <p:spPr>
          <a:xfrm>
            <a:off x="544068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۶</a:t>
            </a:r>
            <a:endParaRPr lang="en-US" sz="1600" dirty="0"/>
          </a:p>
        </p:txBody>
      </p:sp>
      <p:sp>
        <p:nvSpPr>
          <p:cNvPr id="38" name="c3-36"/>
          <p:cNvSpPr/>
          <p:nvPr/>
        </p:nvSpPr>
        <p:spPr>
          <a:xfrm>
            <a:off x="3291840" y="3840480"/>
            <a:ext cx="2743200" cy="2011680"/>
          </a:xfrm>
          <a:prstGeom prst="roundRect">
            <a:avLst>
              <a:gd name="adj" fmla="val 681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27000" dist="38100" dir="16200000">
              <a:srgbClr val="000000">
                <a:alpha val="7000"/>
              </a:srgbClr>
            </a:outerShdw>
          </a:effectLst>
        </p:spPr>
      </p:sp>
      <p:sp>
        <p:nvSpPr>
          <p:cNvPr id="39" name="c3-37"/>
          <p:cNvSpPr txBox="1"/>
          <p:nvPr/>
        </p:nvSpPr>
        <p:spPr>
          <a:xfrm>
            <a:off x="3429000" y="41605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شرکت مختلط سهامی</a:t>
            </a:r>
            <a:endParaRPr lang="en-US" sz="1600" dirty="0"/>
          </a:p>
        </p:txBody>
      </p:sp>
      <p:sp>
        <p:nvSpPr>
          <p:cNvPr id="40" name="c3-38"/>
          <p:cNvSpPr/>
          <p:nvPr/>
        </p:nvSpPr>
        <p:spPr>
          <a:xfrm>
            <a:off x="3566160" y="493776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94A3B8">
              <a:alpha val="12000"/>
            </a:srgbClr>
          </a:solidFill>
          <a:ln/>
        </p:spPr>
      </p:sp>
      <p:sp>
        <p:nvSpPr>
          <p:cNvPr id="41" name="c3-39"/>
          <p:cNvSpPr txBox="1"/>
          <p:nvPr/>
        </p:nvSpPr>
        <p:spPr>
          <a:xfrm>
            <a:off x="3566160" y="4937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ترکیب سهامی و تضامنی</a:t>
            </a:r>
            <a:endParaRPr lang="en-US" sz="1100" dirty="0"/>
          </a:p>
        </p:txBody>
      </p:sp>
      <p:sp>
        <p:nvSpPr>
          <p:cNvPr id="42" name="c3-40"/>
          <p:cNvSpPr/>
          <p:nvPr/>
        </p:nvSpPr>
        <p:spPr>
          <a:xfrm>
            <a:off x="8366760" y="3977640"/>
            <a:ext cx="457200" cy="45720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43" name="c3-41"/>
          <p:cNvSpPr txBox="1"/>
          <p:nvPr/>
        </p:nvSpPr>
        <p:spPr>
          <a:xfrm>
            <a:off x="836676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۷</a:t>
            </a:r>
            <a:endParaRPr lang="en-US" sz="1600" dirty="0"/>
          </a:p>
        </p:txBody>
      </p:sp>
      <p:sp>
        <p:nvSpPr>
          <p:cNvPr id="44" name="c3-42"/>
          <p:cNvSpPr/>
          <p:nvPr/>
        </p:nvSpPr>
        <p:spPr>
          <a:xfrm>
            <a:off x="6217920" y="3840480"/>
            <a:ext cx="2743200" cy="2011680"/>
          </a:xfrm>
          <a:prstGeom prst="roundRect">
            <a:avLst>
              <a:gd name="adj" fmla="val 681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27000" dist="38100" dir="16200000">
              <a:srgbClr val="000000">
                <a:alpha val="7000"/>
              </a:srgbClr>
            </a:outerShdw>
          </a:effectLst>
        </p:spPr>
      </p:sp>
      <p:sp>
        <p:nvSpPr>
          <p:cNvPr id="45" name="c3-43"/>
          <p:cNvSpPr txBox="1"/>
          <p:nvPr/>
        </p:nvSpPr>
        <p:spPr>
          <a:xfrm>
            <a:off x="6355080" y="41605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شرکت مختلط غیرسهامی</a:t>
            </a:r>
            <a:endParaRPr lang="en-US" sz="1600" dirty="0"/>
          </a:p>
        </p:txBody>
      </p:sp>
      <p:sp>
        <p:nvSpPr>
          <p:cNvPr id="46" name="c3-44"/>
          <p:cNvSpPr/>
          <p:nvPr/>
        </p:nvSpPr>
        <p:spPr>
          <a:xfrm>
            <a:off x="6492240" y="493776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94A3B8">
              <a:alpha val="12000"/>
            </a:srgbClr>
          </a:solidFill>
          <a:ln/>
        </p:spPr>
      </p:sp>
      <p:sp>
        <p:nvSpPr>
          <p:cNvPr id="47" name="c3-45"/>
          <p:cNvSpPr txBox="1"/>
          <p:nvPr/>
        </p:nvSpPr>
        <p:spPr>
          <a:xfrm>
            <a:off x="6492240" y="4937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ترکیب غیرسهامی</a:t>
            </a:r>
            <a:endParaRPr lang="en-US" sz="1100" dirty="0"/>
          </a:p>
        </p:txBody>
      </p:sp>
      <p:sp>
        <p:nvSpPr>
          <p:cNvPr id="48" name="c3-46"/>
          <p:cNvSpPr/>
          <p:nvPr/>
        </p:nvSpPr>
        <p:spPr>
          <a:xfrm>
            <a:off x="11292840" y="3977640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9" name="c3-47"/>
          <p:cNvSpPr txBox="1"/>
          <p:nvPr/>
        </p:nvSpPr>
        <p:spPr>
          <a:xfrm>
            <a:off x="1129284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۸</a:t>
            </a:r>
            <a:endParaRPr lang="en-US" sz="1600" dirty="0"/>
          </a:p>
        </p:txBody>
      </p:sp>
      <p:sp>
        <p:nvSpPr>
          <p:cNvPr id="50" name="c3-48"/>
          <p:cNvSpPr/>
          <p:nvPr/>
        </p:nvSpPr>
        <p:spPr>
          <a:xfrm>
            <a:off x="9144000" y="3840480"/>
            <a:ext cx="2743200" cy="2011680"/>
          </a:xfrm>
          <a:prstGeom prst="roundRect">
            <a:avLst>
              <a:gd name="adj" fmla="val 681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27000" dist="38100" dir="16200000">
              <a:srgbClr val="000000">
                <a:alpha val="7000"/>
              </a:srgbClr>
            </a:outerShdw>
          </a:effectLst>
        </p:spPr>
      </p:sp>
      <p:sp>
        <p:nvSpPr>
          <p:cNvPr id="51" name="c3-49"/>
          <p:cNvSpPr txBox="1"/>
          <p:nvPr/>
        </p:nvSpPr>
        <p:spPr>
          <a:xfrm>
            <a:off x="9281160" y="41605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شرکت تعاونی</a:t>
            </a:r>
            <a:endParaRPr lang="en-US" sz="1600" dirty="0"/>
          </a:p>
        </p:txBody>
      </p:sp>
      <p:sp>
        <p:nvSpPr>
          <p:cNvPr id="52" name="c3-50"/>
          <p:cNvSpPr/>
          <p:nvPr/>
        </p:nvSpPr>
        <p:spPr>
          <a:xfrm>
            <a:off x="9418320" y="493776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059669">
              <a:alpha val="12000"/>
            </a:srgbClr>
          </a:solidFill>
          <a:ln/>
        </p:spPr>
      </p:sp>
      <p:sp>
        <p:nvSpPr>
          <p:cNvPr id="53" name="c3-51"/>
          <p:cNvSpPr txBox="1"/>
          <p:nvPr/>
        </p:nvSpPr>
        <p:spPr>
          <a:xfrm>
            <a:off x="9418320" y="4937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مشارکتی • غیرانتفاعی</a:t>
            </a:r>
            <a:endParaRPr lang="en-US" sz="1100" dirty="0"/>
          </a:p>
        </p:txBody>
      </p:sp>
      <p:sp>
        <p:nvSpPr>
          <p:cNvPr id="54" name="c4-52"/>
          <p:cNvSpPr/>
          <p:nvPr/>
        </p:nvSpPr>
        <p:spPr>
          <a:xfrm>
            <a:off x="1371600" y="6035040"/>
            <a:ext cx="9418320" cy="457200"/>
          </a:xfrm>
          <a:prstGeom prst="roundRect">
            <a:avLst>
              <a:gd name="adj" fmla="val 50000"/>
            </a:avLst>
          </a:prstGeom>
          <a:solidFill>
            <a:srgbClr val="D97706">
              <a:alpha val="12000"/>
            </a:srgbClr>
          </a:solidFill>
          <a:ln/>
        </p:spPr>
      </p:sp>
      <p:sp>
        <p:nvSpPr>
          <p:cNvPr id="55" name="c4-53"/>
          <p:cNvSpPr txBox="1"/>
          <p:nvPr/>
        </p:nvSpPr>
        <p:spPr>
          <a:xfrm>
            <a:off x="1371600" y="603504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★  در عمل بیش از ۹۰٪ شرکت‌ها «سهامی خاص» یا «مسئولیت محدود» هستند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4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30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30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300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4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1-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c1-2bg"/>
          <p:cNvSpPr/>
          <p:nvPr/>
        </p:nvSpPr>
        <p:spPr>
          <a:xfrm>
            <a:off x="640080" y="320040"/>
            <a:ext cx="731520" cy="731520"/>
          </a:xfrm>
          <a:prstGeom prst="ellipse">
            <a:avLst/>
          </a:prstGeom>
          <a:solidFill>
            <a:srgbClr val="7C3AED">
              <a:alpha val="20000"/>
            </a:srgbClr>
          </a:solidFill>
          <a:ln/>
        </p:spPr>
      </p:sp>
      <p:pic>
        <p:nvPicPr>
          <p:cNvPr id="4" name="c1-2ic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466344"/>
            <a:ext cx="438912" cy="438912"/>
          </a:xfrm>
          <a:prstGeom prst="rect">
            <a:avLst/>
          </a:prstGeom>
        </p:spPr>
      </p:pic>
      <p:sp>
        <p:nvSpPr>
          <p:cNvPr id="5" name="c1-3"/>
          <p:cNvSpPr txBox="1"/>
          <p:nvPr/>
        </p:nvSpPr>
        <p:spPr>
          <a:xfrm>
            <a:off x="1554480" y="2743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E293B"/>
                </a:solidFill>
                <a:latin typeface="B Titr" pitchFamily="34" charset="0"/>
                <a:ea typeface="B Titr" pitchFamily="34" charset="-122"/>
                <a:cs typeface="B Titr" pitchFamily="34" charset="-120"/>
              </a:rPr>
              <a:t>شرکت سهامی عام</a:t>
            </a:r>
            <a:endParaRPr lang="en-US" sz="3800" dirty="0"/>
          </a:p>
        </p:txBody>
      </p:sp>
      <p:sp>
        <p:nvSpPr>
          <p:cNvPr id="6" name="c1-4"/>
          <p:cNvSpPr txBox="1"/>
          <p:nvPr/>
        </p:nvSpPr>
        <p:spPr>
          <a:xfrm>
            <a:off x="1554480" y="9144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بزرگ‌ترین نوع شرکت تجاری  ◈  سهام قابل معامله در بورس</a:t>
            </a:r>
            <a:endParaRPr lang="en-US" sz="1400" dirty="0"/>
          </a:p>
        </p:txBody>
      </p:sp>
      <p:sp>
        <p:nvSpPr>
          <p:cNvPr id="7" name="c2-5"/>
          <p:cNvSpPr txBox="1"/>
          <p:nvPr/>
        </p:nvSpPr>
        <p:spPr>
          <a:xfrm>
            <a:off x="640080" y="16459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ویژگی‌های اصلی</a:t>
            </a:r>
            <a:endParaRPr lang="en-US" sz="1800" dirty="0"/>
          </a:p>
        </p:txBody>
      </p:sp>
      <p:sp>
        <p:nvSpPr>
          <p:cNvPr id="8" name="c2-6"/>
          <p:cNvSpPr txBox="1"/>
          <p:nvPr/>
        </p:nvSpPr>
        <p:spPr>
          <a:xfrm>
            <a:off x="640080" y="2103120"/>
            <a:ext cx="6858000" cy="2560320"/>
          </a:xfrm>
          <a:prstGeom prst="rect">
            <a:avLst/>
          </a:prstGeom>
          <a:noFill/>
          <a:ln/>
        </p:spPr>
        <p:txBody>
          <a:bodyPr wrap="square" lIns="0" tIns="190500" rIns="190500" bIns="0" rtlCol="0" anchor="t"/>
          <a:lstStyle/>
          <a:p>
            <a:pPr rtl="1" algn="r"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◆"/>
            </a:pPr>
            <a:r>
              <a:rPr lang="en-US" sz="1400" dirty="0">
                <a:solidFill>
                  <a:srgbClr val="1E293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سرمایه از طریق فروش سهام به عموم مردم تأمین می‌شود</a:t>
            </a:r>
            <a:endParaRPr lang="en-US" sz="1400" dirty="0"/>
          </a:p>
          <a:p>
            <a:pPr rtl="1" algn="r"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◆"/>
            </a:pPr>
            <a:r>
              <a:rPr lang="en-US" sz="1400" dirty="0">
                <a:solidFill>
                  <a:srgbClr val="1E293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حداقل ۵ سهامدار و حداقل سرمایه بالا</a:t>
            </a:r>
            <a:endParaRPr lang="en-US" sz="1400" dirty="0"/>
          </a:p>
          <a:p>
            <a:pPr rtl="1" algn="r"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◆"/>
            </a:pPr>
            <a:r>
              <a:rPr lang="en-US" sz="1400" dirty="0">
                <a:solidFill>
                  <a:srgbClr val="1E293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سهام در بورس اوراق بهادار قابل خرید و فروش است</a:t>
            </a:r>
            <a:endParaRPr lang="en-US" sz="1400" dirty="0"/>
          </a:p>
          <a:p>
            <a:pPr rtl="1" algn="r"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◆"/>
            </a:pPr>
            <a:r>
              <a:rPr lang="en-US" sz="1400" dirty="0">
                <a:solidFill>
                  <a:srgbClr val="1E293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مسئولیت سهامداران فقط به اندازه سهامشان</a:t>
            </a:r>
            <a:endParaRPr lang="en-US" sz="1400" dirty="0"/>
          </a:p>
          <a:p>
            <a:pPr rtl="1" algn="r"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◆"/>
            </a:pPr>
            <a:r>
              <a:rPr lang="en-US" sz="1400" dirty="0">
                <a:solidFill>
                  <a:srgbClr val="1E293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باید هیئت‌مدیره (حداقل ۵ نفر) و بازرس قانونی داشته باشد</a:t>
            </a:r>
            <a:endParaRPr lang="en-US" sz="1400" dirty="0"/>
          </a:p>
        </p:txBody>
      </p:sp>
      <p:sp>
        <p:nvSpPr>
          <p:cNvPr id="9" name="c3-7"/>
          <p:cNvSpPr/>
          <p:nvPr/>
        </p:nvSpPr>
        <p:spPr>
          <a:xfrm>
            <a:off x="8046720" y="1645920"/>
            <a:ext cx="3657600" cy="3017520"/>
          </a:xfrm>
          <a:prstGeom prst="roundRect">
            <a:avLst>
              <a:gd name="adj" fmla="val 454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27000" dist="38100" dir="16200000">
              <a:srgbClr val="000000">
                <a:alpha val="7000"/>
              </a:srgbClr>
            </a:outerShdw>
          </a:effectLst>
        </p:spPr>
      </p:sp>
      <p:sp>
        <p:nvSpPr>
          <p:cNvPr id="10" name="c3-8"/>
          <p:cNvSpPr txBox="1"/>
          <p:nvPr/>
        </p:nvSpPr>
        <p:spPr>
          <a:xfrm>
            <a:off x="8229600" y="1828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نمونه‌های واقعی</a:t>
            </a:r>
            <a:endParaRPr lang="en-US" sz="1600" dirty="0"/>
          </a:p>
        </p:txBody>
      </p:sp>
      <p:sp>
        <p:nvSpPr>
          <p:cNvPr id="11" name="c3-9"/>
          <p:cNvSpPr txBox="1"/>
          <p:nvPr/>
        </p:nvSpPr>
        <p:spPr>
          <a:xfrm>
            <a:off x="8229600" y="2377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▸  ایران‌خودرو</a:t>
            </a:r>
            <a:endParaRPr lang="en-US" sz="1500" dirty="0"/>
          </a:p>
        </p:txBody>
      </p:sp>
      <p:sp>
        <p:nvSpPr>
          <p:cNvPr id="12" name="c3-10"/>
          <p:cNvSpPr txBox="1"/>
          <p:nvPr/>
        </p:nvSpPr>
        <p:spPr>
          <a:xfrm>
            <a:off x="8229600" y="29260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▸  فولاد مبارکه اصفهان</a:t>
            </a:r>
            <a:endParaRPr lang="en-US" sz="1500" dirty="0"/>
          </a:p>
        </p:txBody>
      </p:sp>
      <p:sp>
        <p:nvSpPr>
          <p:cNvPr id="13" name="c3-11"/>
          <p:cNvSpPr txBox="1"/>
          <p:nvPr/>
        </p:nvSpPr>
        <p:spPr>
          <a:xfrm>
            <a:off x="8229600" y="3474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▸  بانک ملت</a:t>
            </a:r>
            <a:endParaRPr lang="en-US" sz="1500" dirty="0"/>
          </a:p>
        </p:txBody>
      </p:sp>
      <p:sp>
        <p:nvSpPr>
          <p:cNvPr id="14" name="c4-12"/>
          <p:cNvSpPr/>
          <p:nvPr/>
        </p:nvSpPr>
        <p:spPr>
          <a:xfrm>
            <a:off x="640080" y="5029200"/>
            <a:ext cx="10881360" cy="914400"/>
          </a:xfrm>
          <a:prstGeom prst="roundRect">
            <a:avLst>
              <a:gd name="adj" fmla="val 15000"/>
            </a:avLst>
          </a:prstGeom>
          <a:solidFill>
            <a:srgbClr val="F5F3FF"/>
          </a:solidFill>
          <a:ln/>
          <a:effectLst>
            <a:outerShdw sx="100000" sy="100000" kx="0" ky="0" algn="bl" rotWithShape="0" blurRad="127000" dist="38100" dir="16200000">
              <a:srgbClr val="000000">
                <a:alpha val="7000"/>
              </a:srgbClr>
            </a:outerShdw>
          </a:effectLst>
        </p:spPr>
      </p:sp>
      <p:pic>
        <p:nvPicPr>
          <p:cNvPr id="15" name="c4-1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5212080"/>
            <a:ext cx="365760" cy="365760"/>
          </a:xfrm>
          <a:prstGeom prst="rect">
            <a:avLst/>
          </a:prstGeom>
        </p:spPr>
      </p:pic>
      <p:sp>
        <p:nvSpPr>
          <p:cNvPr id="16" name="c4-14"/>
          <p:cNvSpPr txBox="1"/>
          <p:nvPr/>
        </p:nvSpPr>
        <p:spPr>
          <a:xfrm>
            <a:off x="914400" y="5120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نکته کلیدی:</a:t>
            </a:r>
            <a:endParaRPr lang="en-US" sz="1400" dirty="0"/>
          </a:p>
        </p:txBody>
      </p:sp>
      <p:sp>
        <p:nvSpPr>
          <p:cNvPr id="17" name="c4-15"/>
          <p:cNvSpPr txBox="1"/>
          <p:nvPr/>
        </p:nvSpPr>
        <p:spPr>
          <a:xfrm>
            <a:off x="914400" y="54864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مناسب شرکت‌های بزرگ که نیاز به جذب سرمایه از مردم دارند. ثبت و مدیریت پیچیده‌تر از سایر انواع.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4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30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30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30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4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6" grpId="0"/>
      <p:bldP spid="17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1-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c1-2"/>
          <p:cNvSpPr/>
          <p:nvPr/>
        </p:nvSpPr>
        <p:spPr>
          <a:xfrm>
            <a:off x="8686800" y="274320"/>
            <a:ext cx="3017520" cy="502920"/>
          </a:xfrm>
          <a:prstGeom prst="roundRect">
            <a:avLst>
              <a:gd name="adj" fmla="val 49091"/>
            </a:avLst>
          </a:prstGeom>
          <a:solidFill>
            <a:srgbClr val="D97706"/>
          </a:solidFill>
          <a:ln/>
        </p:spPr>
      </p:sp>
      <p:sp>
        <p:nvSpPr>
          <p:cNvPr id="4" name="c1-3"/>
          <p:cNvSpPr txBox="1"/>
          <p:nvPr/>
        </p:nvSpPr>
        <p:spPr>
          <a:xfrm>
            <a:off x="8686800" y="2743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★  محبوب‌ترین نوع شرکت در ایران</a:t>
            </a:r>
            <a:endParaRPr lang="en-US" sz="1200" dirty="0"/>
          </a:p>
        </p:txBody>
      </p:sp>
      <p:sp>
        <p:nvSpPr>
          <p:cNvPr id="5" name="c1-4bg"/>
          <p:cNvSpPr/>
          <p:nvPr/>
        </p:nvSpPr>
        <p:spPr>
          <a:xfrm>
            <a:off x="640080" y="274320"/>
            <a:ext cx="731520" cy="731520"/>
          </a:xfrm>
          <a:prstGeom prst="ellipse">
            <a:avLst/>
          </a:prstGeom>
          <a:solidFill>
            <a:srgbClr val="2563EB">
              <a:alpha val="20000"/>
            </a:srgbClr>
          </a:solidFill>
          <a:ln/>
        </p:spPr>
      </p:sp>
      <p:pic>
        <p:nvPicPr>
          <p:cNvPr id="6" name="c1-4ic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420624"/>
            <a:ext cx="438912" cy="438912"/>
          </a:xfrm>
          <a:prstGeom prst="rect">
            <a:avLst/>
          </a:prstGeom>
        </p:spPr>
      </p:pic>
      <p:sp>
        <p:nvSpPr>
          <p:cNvPr id="7" name="c1-5"/>
          <p:cNvSpPr txBox="1"/>
          <p:nvPr/>
        </p:nvSpPr>
        <p:spPr>
          <a:xfrm>
            <a:off x="1554480" y="274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E293B"/>
                </a:solidFill>
                <a:latin typeface="B Titr" pitchFamily="34" charset="0"/>
                <a:ea typeface="B Titr" pitchFamily="34" charset="-122"/>
                <a:cs typeface="B Titr" pitchFamily="34" charset="-120"/>
              </a:rPr>
              <a:t>شرکت سهامی خاص</a:t>
            </a:r>
            <a:endParaRPr lang="en-US" sz="3800" dirty="0"/>
          </a:p>
        </p:txBody>
      </p:sp>
      <p:sp>
        <p:nvSpPr>
          <p:cNvPr id="8" name="c2-6"/>
          <p:cNvSpPr txBox="1"/>
          <p:nvPr/>
        </p:nvSpPr>
        <p:spPr>
          <a:xfrm>
            <a:off x="640080" y="13716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ویژگی‌های اصلی</a:t>
            </a:r>
            <a:endParaRPr lang="en-US" sz="1800" dirty="0"/>
          </a:p>
        </p:txBody>
      </p:sp>
      <p:sp>
        <p:nvSpPr>
          <p:cNvPr id="9" name="c2-7"/>
          <p:cNvSpPr txBox="1"/>
          <p:nvPr/>
        </p:nvSpPr>
        <p:spPr>
          <a:xfrm>
            <a:off x="640080" y="1828800"/>
            <a:ext cx="5943600" cy="2194560"/>
          </a:xfrm>
          <a:prstGeom prst="rect">
            <a:avLst/>
          </a:prstGeom>
          <a:noFill/>
          <a:ln/>
        </p:spPr>
        <p:txBody>
          <a:bodyPr wrap="square" lIns="0" tIns="190500" rIns="190500" bIns="0" rtlCol="0" anchor="t"/>
          <a:lstStyle/>
          <a:p>
            <a:pPr rtl="1" algn="r"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◆"/>
            </a:pPr>
            <a:r>
              <a:rPr lang="en-US" sz="1400" dirty="0">
                <a:solidFill>
                  <a:srgbClr val="1E293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حداقل ۳ سهامدار نیاز دارد</a:t>
            </a:r>
            <a:endParaRPr lang="en-US" sz="1400" dirty="0"/>
          </a:p>
          <a:p>
            <a:pPr rtl="1" algn="r"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◆"/>
            </a:pPr>
            <a:r>
              <a:rPr lang="en-US" sz="1400" dirty="0">
                <a:solidFill>
                  <a:srgbClr val="1E293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سهام فقط بین شرکا قابل انتقال است (بورسی نیست)</a:t>
            </a:r>
            <a:endParaRPr lang="en-US" sz="1400" dirty="0"/>
          </a:p>
          <a:p>
            <a:pPr rtl="1" algn="r"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◆"/>
            </a:pPr>
            <a:r>
              <a:rPr lang="en-US" sz="1400" dirty="0">
                <a:solidFill>
                  <a:srgbClr val="1E293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مسئولیت سهامداران محدود به میزان سهامشان</a:t>
            </a:r>
            <a:endParaRPr lang="en-US" sz="1400" dirty="0"/>
          </a:p>
          <a:p>
            <a:pPr rtl="1" algn="r"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◆"/>
            </a:pPr>
            <a:r>
              <a:rPr lang="en-US" sz="1400" dirty="0">
                <a:solidFill>
                  <a:srgbClr val="1E293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تشریفات اداری ساده‌تر و انعطاف‌پذیری بالا</a:t>
            </a:r>
            <a:endParaRPr lang="en-US" sz="1400" dirty="0"/>
          </a:p>
        </p:txBody>
      </p:sp>
      <p:sp>
        <p:nvSpPr>
          <p:cNvPr id="10" name="c3-8"/>
          <p:cNvSpPr/>
          <p:nvPr/>
        </p:nvSpPr>
        <p:spPr>
          <a:xfrm>
            <a:off x="7132320" y="1280160"/>
            <a:ext cx="4572000" cy="2834640"/>
          </a:xfrm>
          <a:prstGeom prst="roundRect">
            <a:avLst>
              <a:gd name="adj" fmla="val 483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27000" dist="38100" dir="16200000">
              <a:srgbClr val="000000">
                <a:alpha val="7000"/>
              </a:srgbClr>
            </a:outerShdw>
          </a:effectLst>
        </p:spPr>
      </p:sp>
      <p:sp>
        <p:nvSpPr>
          <p:cNvPr id="11" name="c3-9"/>
          <p:cNvSpPr txBox="1"/>
          <p:nvPr/>
        </p:nvSpPr>
        <p:spPr>
          <a:xfrm>
            <a:off x="7315200" y="14630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تفاوت با سهامی عام</a:t>
            </a:r>
            <a:endParaRPr lang="en-US" sz="1600" dirty="0"/>
          </a:p>
        </p:txBody>
      </p:sp>
      <p:sp>
        <p:nvSpPr>
          <p:cNvPr id="12" name="c3-10"/>
          <p:cNvSpPr txBox="1"/>
          <p:nvPr/>
        </p:nvSpPr>
        <p:spPr>
          <a:xfrm>
            <a:off x="7315200" y="20116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✦  سهام به عموم فروخته نمی‌شود</a:t>
            </a:r>
            <a:endParaRPr lang="en-US" sz="1300" dirty="0"/>
          </a:p>
        </p:txBody>
      </p:sp>
      <p:sp>
        <p:nvSpPr>
          <p:cNvPr id="13" name="c3-11"/>
          <p:cNvSpPr txBox="1"/>
          <p:nvPr/>
        </p:nvSpPr>
        <p:spPr>
          <a:xfrm>
            <a:off x="7315200" y="24688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✦  تعداد سهامداران کمتر (۳ به جای ۵)</a:t>
            </a:r>
            <a:endParaRPr lang="en-US" sz="1300" dirty="0"/>
          </a:p>
        </p:txBody>
      </p:sp>
      <p:sp>
        <p:nvSpPr>
          <p:cNvPr id="14" name="c3-12"/>
          <p:cNvSpPr txBox="1"/>
          <p:nvPr/>
        </p:nvSpPr>
        <p:spPr>
          <a:xfrm>
            <a:off x="7315200" y="29260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✦  سرمایه اولیه کمتری لازم دارد</a:t>
            </a:r>
            <a:endParaRPr lang="en-US" sz="1300" dirty="0"/>
          </a:p>
        </p:txBody>
      </p:sp>
      <p:sp>
        <p:nvSpPr>
          <p:cNvPr id="15" name="c3-13"/>
          <p:cNvSpPr txBox="1"/>
          <p:nvPr/>
        </p:nvSpPr>
        <p:spPr>
          <a:xfrm>
            <a:off x="7315200" y="33832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✦  بدون نیاز به بورس و پذیره‌نویسی</a:t>
            </a:r>
            <a:endParaRPr lang="en-US" sz="1300" dirty="0"/>
          </a:p>
        </p:txBody>
      </p:sp>
      <p:sp>
        <p:nvSpPr>
          <p:cNvPr id="16" name="c4-14"/>
          <p:cNvSpPr/>
          <p:nvPr/>
        </p:nvSpPr>
        <p:spPr>
          <a:xfrm>
            <a:off x="640080" y="4663440"/>
            <a:ext cx="10881360" cy="502920"/>
          </a:xfrm>
          <a:prstGeom prst="roundRect">
            <a:avLst>
              <a:gd name="adj" fmla="val 49091"/>
            </a:avLst>
          </a:prstGeom>
          <a:solidFill>
            <a:srgbClr val="2563EB"/>
          </a:solidFill>
          <a:ln/>
        </p:spPr>
      </p:sp>
      <p:sp>
        <p:nvSpPr>
          <p:cNvPr id="17" name="c4-15"/>
          <p:cNvSpPr txBox="1"/>
          <p:nvPr/>
        </p:nvSpPr>
        <p:spPr>
          <a:xfrm>
            <a:off x="640080" y="46634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چرا انتخاب اول کارآفرینان است؟</a:t>
            </a:r>
            <a:endParaRPr lang="en-US" sz="1600" dirty="0"/>
          </a:p>
        </p:txBody>
      </p:sp>
      <p:sp>
        <p:nvSpPr>
          <p:cNvPr id="18" name="c4-16"/>
          <p:cNvSpPr/>
          <p:nvPr/>
        </p:nvSpPr>
        <p:spPr>
          <a:xfrm>
            <a:off x="822960" y="5440680"/>
            <a:ext cx="1645920" cy="411480"/>
          </a:xfrm>
          <a:prstGeom prst="roundRect">
            <a:avLst>
              <a:gd name="adj" fmla="val 48889"/>
            </a:avLst>
          </a:prstGeom>
          <a:solidFill>
            <a:srgbClr val="2563EB">
              <a:alpha val="12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c4-17"/>
          <p:cNvSpPr txBox="1"/>
          <p:nvPr/>
        </p:nvSpPr>
        <p:spPr>
          <a:xfrm>
            <a:off x="822960" y="5440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ثبت آسان</a:t>
            </a:r>
            <a:endParaRPr lang="en-US" sz="1100" dirty="0"/>
          </a:p>
        </p:txBody>
      </p:sp>
      <p:sp>
        <p:nvSpPr>
          <p:cNvPr id="20" name="c4-18"/>
          <p:cNvSpPr/>
          <p:nvPr/>
        </p:nvSpPr>
        <p:spPr>
          <a:xfrm>
            <a:off x="2651760" y="5440680"/>
            <a:ext cx="1645920" cy="411480"/>
          </a:xfrm>
          <a:prstGeom prst="roundRect">
            <a:avLst>
              <a:gd name="adj" fmla="val 48889"/>
            </a:avLst>
          </a:prstGeom>
          <a:solidFill>
            <a:srgbClr val="2563EB">
              <a:alpha val="12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c4-19"/>
          <p:cNvSpPr txBox="1"/>
          <p:nvPr/>
        </p:nvSpPr>
        <p:spPr>
          <a:xfrm>
            <a:off x="2651760" y="5440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هزینه کم</a:t>
            </a:r>
            <a:endParaRPr lang="en-US" sz="1100" dirty="0"/>
          </a:p>
        </p:txBody>
      </p:sp>
      <p:sp>
        <p:nvSpPr>
          <p:cNvPr id="22" name="c4-20"/>
          <p:cNvSpPr/>
          <p:nvPr/>
        </p:nvSpPr>
        <p:spPr>
          <a:xfrm>
            <a:off x="4480560" y="5440680"/>
            <a:ext cx="1645920" cy="411480"/>
          </a:xfrm>
          <a:prstGeom prst="roundRect">
            <a:avLst>
              <a:gd name="adj" fmla="val 48889"/>
            </a:avLst>
          </a:prstGeom>
          <a:solidFill>
            <a:srgbClr val="2563EB">
              <a:alpha val="12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c4-21"/>
          <p:cNvSpPr txBox="1"/>
          <p:nvPr/>
        </p:nvSpPr>
        <p:spPr>
          <a:xfrm>
            <a:off x="4480560" y="5440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مدیریت ساده</a:t>
            </a:r>
            <a:endParaRPr lang="en-US" sz="1100" dirty="0"/>
          </a:p>
        </p:txBody>
      </p:sp>
      <p:sp>
        <p:nvSpPr>
          <p:cNvPr id="24" name="c4-22"/>
          <p:cNvSpPr/>
          <p:nvPr/>
        </p:nvSpPr>
        <p:spPr>
          <a:xfrm>
            <a:off x="6309360" y="5440680"/>
            <a:ext cx="1645920" cy="411480"/>
          </a:xfrm>
          <a:prstGeom prst="roundRect">
            <a:avLst>
              <a:gd name="adj" fmla="val 48889"/>
            </a:avLst>
          </a:prstGeom>
          <a:solidFill>
            <a:srgbClr val="2563EB">
              <a:alpha val="12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c4-23"/>
          <p:cNvSpPr txBox="1"/>
          <p:nvPr/>
        </p:nvSpPr>
        <p:spPr>
          <a:xfrm>
            <a:off x="6309360" y="5440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مناسب استارتاپ‌ها</a:t>
            </a:r>
            <a:endParaRPr lang="en-US" sz="1100" dirty="0"/>
          </a:p>
        </p:txBody>
      </p:sp>
      <p:sp>
        <p:nvSpPr>
          <p:cNvPr id="26" name="c4-24"/>
          <p:cNvSpPr/>
          <p:nvPr/>
        </p:nvSpPr>
        <p:spPr>
          <a:xfrm>
            <a:off x="8138160" y="5440680"/>
            <a:ext cx="2743200" cy="411480"/>
          </a:xfrm>
          <a:prstGeom prst="roundRect">
            <a:avLst>
              <a:gd name="adj" fmla="val 48889"/>
            </a:avLst>
          </a:prstGeom>
          <a:solidFill>
            <a:srgbClr val="2563EB">
              <a:alpha val="12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c4-25"/>
          <p:cNvSpPr txBox="1"/>
          <p:nvPr/>
        </p:nvSpPr>
        <p:spPr>
          <a:xfrm>
            <a:off x="8138160" y="54406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بدون نیاز به سرمایه بسیار بالا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4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30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30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30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7" grpId="0"/>
      <p:bldP spid="6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1-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c1-2bg"/>
          <p:cNvSpPr/>
          <p:nvPr/>
        </p:nvSpPr>
        <p:spPr>
          <a:xfrm>
            <a:off x="640080" y="320040"/>
            <a:ext cx="731520" cy="731520"/>
          </a:xfrm>
          <a:prstGeom prst="ellipse">
            <a:avLst/>
          </a:prstGeom>
          <a:solidFill>
            <a:srgbClr val="0891B2">
              <a:alpha val="20000"/>
            </a:srgbClr>
          </a:solidFill>
          <a:ln/>
        </p:spPr>
      </p:sp>
      <p:pic>
        <p:nvPicPr>
          <p:cNvPr id="4" name="c1-2ic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466344"/>
            <a:ext cx="438912" cy="438912"/>
          </a:xfrm>
          <a:prstGeom prst="rect">
            <a:avLst/>
          </a:prstGeom>
        </p:spPr>
      </p:pic>
      <p:sp>
        <p:nvSpPr>
          <p:cNvPr id="5" name="c1-3"/>
          <p:cNvSpPr txBox="1"/>
          <p:nvPr/>
        </p:nvSpPr>
        <p:spPr>
          <a:xfrm>
            <a:off x="15544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E293B"/>
                </a:solidFill>
                <a:latin typeface="B Titr" pitchFamily="34" charset="0"/>
                <a:ea typeface="B Titr" pitchFamily="34" charset="-122"/>
                <a:cs typeface="B Titr" pitchFamily="34" charset="-120"/>
              </a:rPr>
              <a:t>شرکت با مسئولیت محدود</a:t>
            </a:r>
            <a:endParaRPr lang="en-US" sz="3800" dirty="0"/>
          </a:p>
        </p:txBody>
      </p:sp>
      <p:sp>
        <p:nvSpPr>
          <p:cNvPr id="6" name="c1-4"/>
          <p:cNvSpPr txBox="1"/>
          <p:nvPr/>
        </p:nvSpPr>
        <p:spPr>
          <a:xfrm>
            <a:off x="15544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ساده‌ترین نوع شرکت تجاری</a:t>
            </a:r>
            <a:endParaRPr lang="en-US" sz="1500" dirty="0"/>
          </a:p>
        </p:txBody>
      </p:sp>
      <p:sp>
        <p:nvSpPr>
          <p:cNvPr id="7" name="c2-5"/>
          <p:cNvSpPr txBox="1"/>
          <p:nvPr/>
        </p:nvSpPr>
        <p:spPr>
          <a:xfrm>
            <a:off x="640080" y="15544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ویژگی‌های اصلی</a:t>
            </a:r>
            <a:endParaRPr lang="en-US" sz="1800" dirty="0"/>
          </a:p>
        </p:txBody>
      </p:sp>
      <p:sp>
        <p:nvSpPr>
          <p:cNvPr id="8" name="c2-6"/>
          <p:cNvSpPr txBox="1"/>
          <p:nvPr/>
        </p:nvSpPr>
        <p:spPr>
          <a:xfrm>
            <a:off x="640080" y="2011680"/>
            <a:ext cx="5943600" cy="2560320"/>
          </a:xfrm>
          <a:prstGeom prst="rect">
            <a:avLst/>
          </a:prstGeom>
          <a:noFill/>
          <a:ln/>
        </p:spPr>
        <p:txBody>
          <a:bodyPr wrap="square" lIns="0" tIns="190500" rIns="190500" bIns="0" rtlCol="0" anchor="t"/>
          <a:lstStyle/>
          <a:p>
            <a:pPr rtl="1" algn="r"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◆"/>
            </a:pPr>
            <a:r>
              <a:rPr lang="en-US" sz="1400" dirty="0">
                <a:solidFill>
                  <a:srgbClr val="1E293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حداقل ۲ شریک نیاز دارد</a:t>
            </a:r>
            <a:endParaRPr lang="en-US" sz="1400" dirty="0"/>
          </a:p>
          <a:p>
            <a:pPr rtl="1" algn="r"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◆"/>
            </a:pPr>
            <a:r>
              <a:rPr lang="en-US" sz="1400" dirty="0">
                <a:solidFill>
                  <a:srgbClr val="1E293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حداقل سرمایه مشخصی ندارد</a:t>
            </a:r>
            <a:endParaRPr lang="en-US" sz="1400" dirty="0"/>
          </a:p>
          <a:p>
            <a:pPr rtl="1" algn="r"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◆"/>
            </a:pPr>
            <a:r>
              <a:rPr lang="en-US" sz="1400" dirty="0">
                <a:solidFill>
                  <a:srgbClr val="1E293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سهام ندارد — شرکا «سهم‌الشرکه» دارند</a:t>
            </a:r>
            <a:endParaRPr lang="en-US" sz="1400" dirty="0"/>
          </a:p>
          <a:p>
            <a:pPr rtl="1" algn="r"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◆"/>
            </a:pPr>
            <a:r>
              <a:rPr lang="en-US" sz="1400" dirty="0">
                <a:solidFill>
                  <a:srgbClr val="1E293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انتقال سهم‌الشرکه نیاز به موافقت اکثریت شرکا</a:t>
            </a:r>
            <a:endParaRPr lang="en-US" sz="1400" dirty="0"/>
          </a:p>
          <a:p>
            <a:pPr rtl="1" algn="r"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◆"/>
            </a:pPr>
            <a:r>
              <a:rPr lang="en-US" sz="1400" dirty="0">
                <a:solidFill>
                  <a:srgbClr val="1E293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مسئولیت فقط به اندازه سهم‌الشرکه</a:t>
            </a:r>
            <a:endParaRPr lang="en-US" sz="1400" dirty="0"/>
          </a:p>
        </p:txBody>
      </p:sp>
      <p:sp>
        <p:nvSpPr>
          <p:cNvPr id="9" name="c3-7"/>
          <p:cNvSpPr/>
          <p:nvPr/>
        </p:nvSpPr>
        <p:spPr>
          <a:xfrm>
            <a:off x="7132320" y="1371600"/>
            <a:ext cx="4572000" cy="3291840"/>
          </a:xfrm>
          <a:prstGeom prst="roundRect">
            <a:avLst>
              <a:gd name="adj" fmla="val 4167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27000" dist="38100" dir="16200000">
              <a:srgbClr val="000000">
                <a:alpha val="7000"/>
              </a:srgbClr>
            </a:outerShdw>
          </a:effectLst>
        </p:spPr>
      </p:sp>
      <p:sp>
        <p:nvSpPr>
          <p:cNvPr id="10" name="c3-8"/>
          <p:cNvSpPr txBox="1"/>
          <p:nvPr/>
        </p:nvSpPr>
        <p:spPr>
          <a:xfrm>
            <a:off x="7315200" y="15544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سهم‌الشرکه در مقابل سهام</a:t>
            </a:r>
            <a:endParaRPr lang="en-US" sz="1600" dirty="0"/>
          </a:p>
        </p:txBody>
      </p:sp>
      <p:sp>
        <p:nvSpPr>
          <p:cNvPr id="11" name="c3-9"/>
          <p:cNvSpPr txBox="1"/>
          <p:nvPr/>
        </p:nvSpPr>
        <p:spPr>
          <a:xfrm>
            <a:off x="7315200" y="21031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سهام = ورقه‌ای که آزادانه خرید و فروش می‌شود</a:t>
            </a:r>
            <a:endParaRPr lang="en-US" sz="1200" dirty="0"/>
          </a:p>
        </p:txBody>
      </p:sp>
      <p:sp>
        <p:nvSpPr>
          <p:cNvPr id="12" name="c3-10"/>
          <p:cNvSpPr/>
          <p:nvPr/>
        </p:nvSpPr>
        <p:spPr>
          <a:xfrm>
            <a:off x="7498080" y="2606040"/>
            <a:ext cx="384048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3" name="c3-11"/>
          <p:cNvSpPr txBox="1"/>
          <p:nvPr/>
        </p:nvSpPr>
        <p:spPr>
          <a:xfrm>
            <a:off x="7315200" y="26974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سهم‌الشرکه = ورقه ندارد، انتقال سخت‌تر و نیاز به موافقت شرکا</a:t>
            </a:r>
            <a:endParaRPr lang="en-US" sz="1200" dirty="0"/>
          </a:p>
        </p:txBody>
      </p:sp>
      <p:sp>
        <p:nvSpPr>
          <p:cNvPr id="14" name="c4-12"/>
          <p:cNvSpPr/>
          <p:nvPr/>
        </p:nvSpPr>
        <p:spPr>
          <a:xfrm>
            <a:off x="640080" y="5029200"/>
            <a:ext cx="10881360" cy="502920"/>
          </a:xfrm>
          <a:prstGeom prst="roundRect">
            <a:avLst>
              <a:gd name="adj" fmla="val 49091"/>
            </a:avLst>
          </a:prstGeom>
          <a:solidFill>
            <a:srgbClr val="0891B2">
              <a:alpha val="12000"/>
            </a:srgbClr>
          </a:solidFill>
          <a:ln/>
        </p:spPr>
      </p:sp>
      <p:sp>
        <p:nvSpPr>
          <p:cNvPr id="15" name="c4-13"/>
          <p:cNvSpPr txBox="1"/>
          <p:nvPr/>
        </p:nvSpPr>
        <p:spPr>
          <a:xfrm>
            <a:off x="640080" y="50292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بهترین انتخاب برای: کسب‌وکارهای کوچک خانوادگی، مغازه‌ها، کارگاه‌ها</a:t>
            </a:r>
            <a:endParaRPr lang="en-US" sz="1400" dirty="0"/>
          </a:p>
        </p:txBody>
      </p:sp>
      <p:sp>
        <p:nvSpPr>
          <p:cNvPr id="16" name="c4-14"/>
          <p:cNvSpPr/>
          <p:nvPr/>
        </p:nvSpPr>
        <p:spPr>
          <a:xfrm>
            <a:off x="640080" y="5760720"/>
            <a:ext cx="10881360" cy="457200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27000" dist="38100" dir="16200000">
              <a:srgbClr val="000000">
                <a:alpha val="7000"/>
              </a:srgbClr>
            </a:outerShdw>
          </a:effectLst>
        </p:spPr>
      </p:sp>
      <p:sp>
        <p:nvSpPr>
          <p:cNvPr id="17" name="c4-15"/>
          <p:cNvSpPr txBox="1"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تفاوت اصلی با سهامی خاص:  سهم‌الشرکه به جای سهام  |  حداقل ۲ نفر  |  انتقال مالکیت سخت‌تر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4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30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30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30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4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1-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c1-2bg"/>
          <p:cNvSpPr/>
          <p:nvPr/>
        </p:nvSpPr>
        <p:spPr>
          <a:xfrm>
            <a:off x="640080" y="320040"/>
            <a:ext cx="731520" cy="731520"/>
          </a:xfrm>
          <a:prstGeom prst="ellipse">
            <a:avLst/>
          </a:prstGeom>
          <a:solidFill>
            <a:srgbClr val="DC2626">
              <a:alpha val="20000"/>
            </a:srgbClr>
          </a:solidFill>
          <a:ln/>
        </p:spPr>
      </p:sp>
      <p:pic>
        <p:nvPicPr>
          <p:cNvPr id="4" name="c1-2ic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466344"/>
            <a:ext cx="438912" cy="438912"/>
          </a:xfrm>
          <a:prstGeom prst="rect">
            <a:avLst/>
          </a:prstGeom>
        </p:spPr>
      </p:pic>
      <p:sp>
        <p:nvSpPr>
          <p:cNvPr id="5" name="c1-3"/>
          <p:cNvSpPr txBox="1"/>
          <p:nvPr/>
        </p:nvSpPr>
        <p:spPr>
          <a:xfrm>
            <a:off x="1554480" y="2743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B Titr" pitchFamily="34" charset="0"/>
                <a:ea typeface="B Titr" pitchFamily="34" charset="-122"/>
                <a:cs typeface="B Titr" pitchFamily="34" charset="-120"/>
              </a:rPr>
              <a:t>شرکت تضامنی و شرکت نسبی</a:t>
            </a:r>
            <a:endParaRPr lang="en-US" sz="3600" dirty="0"/>
          </a:p>
        </p:txBody>
      </p:sp>
      <p:sp>
        <p:nvSpPr>
          <p:cNvPr id="6" name="c2-4"/>
          <p:cNvSpPr/>
          <p:nvPr/>
        </p:nvSpPr>
        <p:spPr>
          <a:xfrm>
            <a:off x="457200" y="1371600"/>
            <a:ext cx="5486400" cy="3840480"/>
          </a:xfrm>
          <a:prstGeom prst="roundRect">
            <a:avLst>
              <a:gd name="adj" fmla="val 357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27000" dist="38100" dir="16200000">
              <a:srgbClr val="000000">
                <a:alpha val="7000"/>
              </a:srgbClr>
            </a:outerShdw>
          </a:effectLst>
        </p:spPr>
      </p:sp>
      <p:sp>
        <p:nvSpPr>
          <p:cNvPr id="7" name="c2-5"/>
          <p:cNvSpPr txBox="1"/>
          <p:nvPr/>
        </p:nvSpPr>
        <p:spPr>
          <a:xfrm>
            <a:off x="640080" y="15544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شرکت تضامنی</a:t>
            </a:r>
            <a:endParaRPr lang="en-US" sz="2200" dirty="0"/>
          </a:p>
        </p:txBody>
      </p:sp>
      <p:sp>
        <p:nvSpPr>
          <p:cNvPr id="8" name="c2-6"/>
          <p:cNvSpPr txBox="1"/>
          <p:nvPr/>
        </p:nvSpPr>
        <p:spPr>
          <a:xfrm>
            <a:off x="640080" y="214884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190500" rIns="190500" bIns="0" rtlCol="0" anchor="t"/>
          <a:lstStyle/>
          <a:p>
            <a:pPr rtl="1" algn="r"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◆"/>
            </a:pPr>
            <a:r>
              <a:rPr lang="en-US" sz="1300" dirty="0">
                <a:solidFill>
                  <a:srgbClr val="1E293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شرکا مسئولیت نامحدود و تضامنی دارند</a:t>
            </a:r>
            <a:endParaRPr lang="en-US" sz="1300" dirty="0"/>
          </a:p>
          <a:p>
            <a:pPr rtl="1" algn="r"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◆"/>
            </a:pPr>
            <a:r>
              <a:rPr lang="en-US" sz="1300" dirty="0">
                <a:solidFill>
                  <a:srgbClr val="1E293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اگر شرکت نتونه بدهی بده، شرکا از جیب خودشون باید بدن</a:t>
            </a:r>
            <a:endParaRPr lang="en-US" sz="1300" dirty="0"/>
          </a:p>
          <a:p>
            <a:pPr rtl="1" algn="r"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◆"/>
            </a:pPr>
            <a:r>
              <a:rPr lang="en-US" sz="1300" dirty="0">
                <a:solidFill>
                  <a:srgbClr val="1E293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هر شریک مسئول تمام بدهی است نه فقط سهم خودش</a:t>
            </a:r>
            <a:endParaRPr lang="en-US" sz="1300" dirty="0"/>
          </a:p>
          <a:p>
            <a:pPr rtl="1" algn="r"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◆"/>
            </a:pPr>
            <a:r>
              <a:rPr lang="en-US" sz="1300" dirty="0">
                <a:solidFill>
                  <a:srgbClr val="1E293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بر پایه اعتماد کامل متقابل</a:t>
            </a:r>
            <a:endParaRPr lang="en-US" sz="1300" dirty="0"/>
          </a:p>
        </p:txBody>
      </p:sp>
      <p:sp>
        <p:nvSpPr>
          <p:cNvPr id="9" name="c3-7"/>
          <p:cNvSpPr/>
          <p:nvPr/>
        </p:nvSpPr>
        <p:spPr>
          <a:xfrm>
            <a:off x="6217920" y="1371600"/>
            <a:ext cx="5486400" cy="3840480"/>
          </a:xfrm>
          <a:prstGeom prst="roundRect">
            <a:avLst>
              <a:gd name="adj" fmla="val 357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27000" dist="38100" dir="16200000">
              <a:srgbClr val="000000">
                <a:alpha val="7000"/>
              </a:srgbClr>
            </a:outerShdw>
          </a:effectLst>
        </p:spPr>
      </p:sp>
      <p:sp>
        <p:nvSpPr>
          <p:cNvPr id="10" name="c3-8"/>
          <p:cNvSpPr txBox="1"/>
          <p:nvPr/>
        </p:nvSpPr>
        <p:spPr>
          <a:xfrm>
            <a:off x="6400800" y="15544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شرکت نسبی</a:t>
            </a:r>
            <a:endParaRPr lang="en-US" sz="2200" dirty="0"/>
          </a:p>
        </p:txBody>
      </p:sp>
      <p:sp>
        <p:nvSpPr>
          <p:cNvPr id="11" name="c3-9"/>
          <p:cNvSpPr txBox="1"/>
          <p:nvPr/>
        </p:nvSpPr>
        <p:spPr>
          <a:xfrm>
            <a:off x="6400800" y="214884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190500" rIns="190500" bIns="0" rtlCol="0" anchor="t"/>
          <a:lstStyle/>
          <a:p>
            <a:pPr rtl="1" algn="r"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◆"/>
            </a:pPr>
            <a:r>
              <a:rPr lang="en-US" sz="1300" dirty="0">
                <a:solidFill>
                  <a:srgbClr val="1E293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شبیه تضامنی ولی با یک تفاوت مهم</a:t>
            </a:r>
            <a:endParaRPr lang="en-US" sz="1300" dirty="0"/>
          </a:p>
          <a:p>
            <a:pPr rtl="1" algn="r"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◆"/>
            </a:pPr>
            <a:r>
              <a:rPr lang="en-US" sz="1300" dirty="0">
                <a:solidFill>
                  <a:srgbClr val="1E293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مسئولیت هر شریک به نسبت سرمایه‌اش</a:t>
            </a:r>
            <a:endParaRPr lang="en-US" sz="1300" dirty="0"/>
          </a:p>
          <a:p>
            <a:pPr rtl="1" algn="r"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◆"/>
            </a:pPr>
            <a:r>
              <a:rPr lang="en-US" sz="1300" dirty="0">
                <a:solidFill>
                  <a:srgbClr val="1E293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مثال: ۳۰٪ سرمایه = ۳۰٪ مسئولیت بدهی</a:t>
            </a:r>
            <a:endParaRPr lang="en-US" sz="1300" dirty="0"/>
          </a:p>
          <a:p>
            <a:pPr rtl="1" algn="r"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◆"/>
            </a:pPr>
            <a:r>
              <a:rPr lang="en-US" sz="1300" dirty="0">
                <a:solidFill>
                  <a:srgbClr val="1E293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ریسک کمتر از تضامنی</a:t>
            </a:r>
            <a:endParaRPr lang="en-US" sz="1300" dirty="0"/>
          </a:p>
        </p:txBody>
      </p:sp>
      <p:sp>
        <p:nvSpPr>
          <p:cNvPr id="12" name="c4-10"/>
          <p:cNvSpPr/>
          <p:nvPr/>
        </p:nvSpPr>
        <p:spPr>
          <a:xfrm>
            <a:off x="1371600" y="5577840"/>
            <a:ext cx="9418320" cy="548640"/>
          </a:xfrm>
          <a:prstGeom prst="roundRect">
            <a:avLst>
              <a:gd name="adj" fmla="val 50000"/>
            </a:avLst>
          </a:prstGeom>
          <a:solidFill>
            <a:srgbClr val="DC2626">
              <a:alpha val="10000"/>
            </a:srgbClr>
          </a:solidFill>
          <a:ln w="19050">
            <a:solidFill>
              <a:srgbClr val="DC2626"/>
            </a:solidFill>
            <a:prstDash val="solid"/>
          </a:ln>
        </p:spPr>
      </p:sp>
      <p:pic>
        <p:nvPicPr>
          <p:cNvPr id="13" name="c4-1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5669280"/>
            <a:ext cx="320040" cy="320040"/>
          </a:xfrm>
          <a:prstGeom prst="rect">
            <a:avLst/>
          </a:prstGeom>
        </p:spPr>
      </p:pic>
      <p:sp>
        <p:nvSpPr>
          <p:cNvPr id="14" name="c4-12"/>
          <p:cNvSpPr txBox="1"/>
          <p:nvPr/>
        </p:nvSpPr>
        <p:spPr>
          <a:xfrm>
            <a:off x="1371600" y="557784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⚠  هر دو نوع به دلیل ریسک بالای شرکا، امروزه کمتر مورد استفاده قرار می‌گیرند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4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30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30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30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4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4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1-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c1-2bg"/>
          <p:cNvSpPr/>
          <p:nvPr/>
        </p:nvSpPr>
        <p:spPr>
          <a:xfrm>
            <a:off x="640080" y="320040"/>
            <a:ext cx="731520" cy="731520"/>
          </a:xfrm>
          <a:prstGeom prst="ellipse">
            <a:avLst/>
          </a:prstGeom>
          <a:solidFill>
            <a:srgbClr val="059669">
              <a:alpha val="20000"/>
            </a:srgbClr>
          </a:solidFill>
          <a:ln/>
        </p:spPr>
      </p:sp>
      <p:pic>
        <p:nvPicPr>
          <p:cNvPr id="4" name="c1-2ic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466344"/>
            <a:ext cx="438912" cy="438912"/>
          </a:xfrm>
          <a:prstGeom prst="rect">
            <a:avLst/>
          </a:prstGeom>
        </p:spPr>
      </p:pic>
      <p:sp>
        <p:nvSpPr>
          <p:cNvPr id="5" name="c1-3"/>
          <p:cNvSpPr txBox="1"/>
          <p:nvPr/>
        </p:nvSpPr>
        <p:spPr>
          <a:xfrm>
            <a:off x="1554480" y="2743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E293B"/>
                </a:solidFill>
                <a:latin typeface="B Titr" pitchFamily="34" charset="0"/>
                <a:ea typeface="B Titr" pitchFamily="34" charset="-122"/>
                <a:cs typeface="B Titr" pitchFamily="34" charset="-120"/>
              </a:rPr>
              <a:t>شرکت تعاونی</a:t>
            </a:r>
            <a:endParaRPr lang="en-US" sz="3800" dirty="0"/>
          </a:p>
        </p:txBody>
      </p:sp>
      <p:sp>
        <p:nvSpPr>
          <p:cNvPr id="6" name="c1-4"/>
          <p:cNvSpPr txBox="1"/>
          <p:nvPr/>
        </p:nvSpPr>
        <p:spPr>
          <a:xfrm>
            <a:off x="1554480" y="9144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مشارکت  ◈  دموکراسی  ◈  خدمت به اعضا</a:t>
            </a:r>
            <a:endParaRPr lang="en-US" sz="1500" dirty="0"/>
          </a:p>
        </p:txBody>
      </p:sp>
      <p:sp>
        <p:nvSpPr>
          <p:cNvPr id="7" name="c2-5"/>
          <p:cNvSpPr txBox="1"/>
          <p:nvPr/>
        </p:nvSpPr>
        <p:spPr>
          <a:xfrm>
            <a:off x="640080" y="15544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ویژگی‌های اصلی</a:t>
            </a:r>
            <a:endParaRPr lang="en-US" sz="1800" dirty="0"/>
          </a:p>
        </p:txBody>
      </p:sp>
      <p:sp>
        <p:nvSpPr>
          <p:cNvPr id="8" name="c2-6"/>
          <p:cNvSpPr txBox="1"/>
          <p:nvPr/>
        </p:nvSpPr>
        <p:spPr>
          <a:xfrm>
            <a:off x="640080" y="2011680"/>
            <a:ext cx="5943600" cy="2560320"/>
          </a:xfrm>
          <a:prstGeom prst="rect">
            <a:avLst/>
          </a:prstGeom>
          <a:noFill/>
          <a:ln/>
        </p:spPr>
        <p:txBody>
          <a:bodyPr wrap="square" lIns="0" tIns="190500" rIns="190500" bIns="0" rtlCol="0" anchor="t"/>
          <a:lstStyle/>
          <a:p>
            <a:pPr rtl="1" algn="r"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◆"/>
            </a:pPr>
            <a:r>
              <a:rPr lang="en-US" sz="1400" dirty="0">
                <a:solidFill>
                  <a:srgbClr val="1E293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حداقل ۷ عضو نیاز دارد</a:t>
            </a:r>
            <a:endParaRPr lang="en-US" sz="1400" dirty="0"/>
          </a:p>
          <a:p>
            <a:pPr rtl="1" algn="r"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◆"/>
            </a:pPr>
            <a:r>
              <a:rPr lang="en-US" sz="1400" dirty="0">
                <a:solidFill>
                  <a:srgbClr val="1E293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هدف: خدمت به اعضا، نه صرفاً سودآوری</a:t>
            </a:r>
            <a:endParaRPr lang="en-US" sz="1400" dirty="0"/>
          </a:p>
          <a:p>
            <a:pPr rtl="1" algn="r"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◆"/>
            </a:pPr>
            <a:r>
              <a:rPr lang="en-US" sz="1400" dirty="0">
                <a:solidFill>
                  <a:srgbClr val="1E293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هر عضو = یک رأی (بدون توجه به سرمایه)</a:t>
            </a:r>
            <a:endParaRPr lang="en-US" sz="1400" dirty="0"/>
          </a:p>
          <a:p>
            <a:pPr rtl="1" algn="r"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◆"/>
            </a:pPr>
            <a:r>
              <a:rPr lang="en-US" sz="1400" dirty="0">
                <a:solidFill>
                  <a:srgbClr val="1E293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مدیریت دموکراتیک و مشارکتی</a:t>
            </a:r>
            <a:endParaRPr lang="en-US" sz="1400" dirty="0"/>
          </a:p>
          <a:p>
            <a:pPr rtl="1" algn="r"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◆"/>
            </a:pPr>
            <a:r>
              <a:rPr lang="en-US" sz="1400" dirty="0">
                <a:solidFill>
                  <a:srgbClr val="1E293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حمایت دولتی و معافیت‌های مالیاتی</a:t>
            </a:r>
            <a:endParaRPr lang="en-US" sz="1400" dirty="0"/>
          </a:p>
        </p:txBody>
      </p:sp>
      <p:sp>
        <p:nvSpPr>
          <p:cNvPr id="9" name="c3-7"/>
          <p:cNvSpPr/>
          <p:nvPr/>
        </p:nvSpPr>
        <p:spPr>
          <a:xfrm>
            <a:off x="7132320" y="1371600"/>
            <a:ext cx="4572000" cy="182880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27000" dist="38100" dir="16200000">
              <a:srgbClr val="000000">
                <a:alpha val="7000"/>
              </a:srgbClr>
            </a:outerShdw>
          </a:effectLst>
        </p:spPr>
      </p:sp>
      <p:sp>
        <p:nvSpPr>
          <p:cNvPr id="10" name="c3-8"/>
          <p:cNvSpPr txBox="1"/>
          <p:nvPr/>
        </p:nvSpPr>
        <p:spPr>
          <a:xfrm>
            <a:off x="7315200" y="15544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انواع تعاونی</a:t>
            </a:r>
            <a:endParaRPr lang="en-US" sz="1600" dirty="0"/>
          </a:p>
        </p:txBody>
      </p:sp>
      <p:sp>
        <p:nvSpPr>
          <p:cNvPr id="11" name="c3-9"/>
          <p:cNvSpPr txBox="1"/>
          <p:nvPr/>
        </p:nvSpPr>
        <p:spPr>
          <a:xfrm>
            <a:off x="7315200" y="20116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▸  تعاونی تولید (مثل کشاورزی)</a:t>
            </a:r>
            <a:endParaRPr lang="en-US" sz="1300" dirty="0"/>
          </a:p>
        </p:txBody>
      </p:sp>
      <p:sp>
        <p:nvSpPr>
          <p:cNvPr id="12" name="c3-10"/>
          <p:cNvSpPr txBox="1"/>
          <p:nvPr/>
        </p:nvSpPr>
        <p:spPr>
          <a:xfrm>
            <a:off x="7315200" y="23774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▸  تعاونی مصرف (فروشگاه تعاونی)</a:t>
            </a:r>
            <a:endParaRPr lang="en-US" sz="1300" dirty="0"/>
          </a:p>
        </p:txBody>
      </p:sp>
      <p:sp>
        <p:nvSpPr>
          <p:cNvPr id="13" name="c3-11"/>
          <p:cNvSpPr txBox="1"/>
          <p:nvPr/>
        </p:nvSpPr>
        <p:spPr>
          <a:xfrm>
            <a:off x="7315200" y="27432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▸  تعاونی مسکن</a:t>
            </a:r>
            <a:endParaRPr lang="en-US" sz="1300" dirty="0"/>
          </a:p>
        </p:txBody>
      </p:sp>
      <p:sp>
        <p:nvSpPr>
          <p:cNvPr id="14" name="c3-12"/>
          <p:cNvSpPr/>
          <p:nvPr/>
        </p:nvSpPr>
        <p:spPr>
          <a:xfrm>
            <a:off x="7132320" y="3474720"/>
            <a:ext cx="4572000" cy="1463040"/>
          </a:xfrm>
          <a:prstGeom prst="roundRect">
            <a:avLst>
              <a:gd name="adj" fmla="val 9375"/>
            </a:avLst>
          </a:prstGeom>
          <a:solidFill>
            <a:srgbClr val="F0FDF4"/>
          </a:solidFill>
          <a:ln/>
          <a:effectLst>
            <a:outerShdw sx="100000" sy="100000" kx="0" ky="0" algn="bl" rotWithShape="0" blurRad="127000" dist="38100" dir="16200000">
              <a:srgbClr val="000000">
                <a:alpha val="7000"/>
              </a:srgbClr>
            </a:outerShdw>
          </a:effectLst>
        </p:spPr>
      </p:sp>
      <p:sp>
        <p:nvSpPr>
          <p:cNvPr id="15" name="c3-13"/>
          <p:cNvSpPr txBox="1"/>
          <p:nvPr/>
        </p:nvSpPr>
        <p:spPr>
          <a:xfrm>
            <a:off x="7315200" y="36118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مثال کاربردی</a:t>
            </a:r>
            <a:endParaRPr lang="en-US" sz="1400" dirty="0"/>
          </a:p>
        </p:txBody>
      </p:sp>
      <p:sp>
        <p:nvSpPr>
          <p:cNvPr id="16" name="c3-14"/>
          <p:cNvSpPr txBox="1"/>
          <p:nvPr/>
        </p:nvSpPr>
        <p:spPr>
          <a:xfrm>
            <a:off x="7315200" y="39776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۱۰ کشاورز با هم شرکت تعاونی تشکیل می‌دهند. محصولاتشان را مشترکاً می‌فروشند، قدرت چانه‌زنی بیشتری دارند.</a:t>
            </a:r>
            <a:endParaRPr lang="en-US" sz="1200" dirty="0"/>
          </a:p>
        </p:txBody>
      </p:sp>
      <p:sp>
        <p:nvSpPr>
          <p:cNvPr id="17" name="c4-15"/>
          <p:cNvSpPr/>
          <p:nvPr/>
        </p:nvSpPr>
        <p:spPr>
          <a:xfrm>
            <a:off x="640080" y="5303520"/>
            <a:ext cx="10881360" cy="502920"/>
          </a:xfrm>
          <a:prstGeom prst="roundRect">
            <a:avLst>
              <a:gd name="adj" fmla="val 49091"/>
            </a:avLst>
          </a:prstGeom>
          <a:solidFill>
            <a:srgbClr val="059669">
              <a:alpha val="12000"/>
            </a:srgbClr>
          </a:solidFill>
          <a:ln/>
        </p:spPr>
      </p:sp>
      <p:sp>
        <p:nvSpPr>
          <p:cNvPr id="18" name="c4-16"/>
          <p:cNvSpPr txBox="1"/>
          <p:nvPr/>
        </p:nvSpPr>
        <p:spPr>
          <a:xfrm>
            <a:off x="640080" y="53035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اصل اول تعاون:  عضویت داوطلبانه و آزاد  ◈  کنترل دموکراتیک  ◈  تقسیم عادلانه سود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4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30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30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30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4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1-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c1-2bg"/>
          <p:cNvSpPr/>
          <p:nvPr/>
        </p:nvSpPr>
        <p:spPr>
          <a:xfrm>
            <a:off x="640080" y="274320"/>
            <a:ext cx="685800" cy="685800"/>
          </a:xfrm>
          <a:prstGeom prst="ellipse">
            <a:avLst/>
          </a:prstGeom>
          <a:solidFill>
            <a:srgbClr val="D97706">
              <a:alpha val="18000"/>
            </a:srgbClr>
          </a:solidFill>
          <a:ln/>
        </p:spPr>
      </p:sp>
      <p:pic>
        <p:nvPicPr>
          <p:cNvPr id="4" name="c1-2ic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11480"/>
            <a:ext cx="411480" cy="411480"/>
          </a:xfrm>
          <a:prstGeom prst="rect">
            <a:avLst/>
          </a:prstGeom>
        </p:spPr>
      </p:pic>
      <p:sp>
        <p:nvSpPr>
          <p:cNvPr id="5" name="c1-3"/>
          <p:cNvSpPr txBox="1"/>
          <p:nvPr/>
        </p:nvSpPr>
        <p:spPr>
          <a:xfrm>
            <a:off x="1554480" y="2743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B Titr" pitchFamily="34" charset="0"/>
                <a:ea typeface="B Titr" pitchFamily="34" charset="-122"/>
                <a:cs typeface="B Titr" pitchFamily="34" charset="-120"/>
              </a:rPr>
              <a:t>مقایسه انواع شرکت‌های پرکاربرد</a:t>
            </a:r>
            <a:endParaRPr lang="en-US" sz="3400" dirty="0"/>
          </a:p>
        </p:txBody>
      </p:sp>
      <p:graphicFrame>
        <p:nvGraphicFramePr>
          <p:cNvPr id="10" name="c2-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011680"/>
                <a:gridCol w="1645920"/>
                <a:gridCol w="1645920"/>
                <a:gridCol w="3200400"/>
              </a:tblGrid>
              <a:tr h="594360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B Nazanin" pitchFamily="34" charset="0"/>
                          <a:ea typeface="B Nazanin" pitchFamily="34" charset="-122"/>
                          <a:cs typeface="B Nazanin" pitchFamily="34" charset="-120"/>
                        </a:rPr>
                        <a:t>مناسب برای</a:t>
                      </a:r>
                      <a:endParaRPr lang="en-US" sz="1200" dirty="0">
                        <a:latin typeface="B Nazanin" charset="0"/>
                        <a:ea typeface="B Nazanin" charset="0"/>
                        <a:cs typeface="B Nazan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B Nazanin" pitchFamily="34" charset="0"/>
                          <a:ea typeface="B Nazanin" pitchFamily="34" charset="-122"/>
                          <a:cs typeface="B Nazanin" pitchFamily="34" charset="-120"/>
                        </a:rPr>
                        <a:t>مسئولیت شرکا</a:t>
                      </a:r>
                      <a:endParaRPr lang="en-US" sz="1200" dirty="0">
                        <a:latin typeface="B Nazanin" charset="0"/>
                        <a:ea typeface="B Nazanin" charset="0"/>
                        <a:cs typeface="B Nazan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B Nazanin" pitchFamily="34" charset="0"/>
                          <a:ea typeface="B Nazanin" pitchFamily="34" charset="-122"/>
                          <a:cs typeface="B Nazanin" pitchFamily="34" charset="-120"/>
                        </a:rPr>
                        <a:t>حداقل شرکا</a:t>
                      </a:r>
                      <a:endParaRPr lang="en-US" sz="1200" dirty="0">
                        <a:latin typeface="B Nazanin" charset="0"/>
                        <a:ea typeface="B Nazanin" charset="0"/>
                        <a:cs typeface="B Nazan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B Nazanin" pitchFamily="34" charset="0"/>
                          <a:ea typeface="B Nazanin" pitchFamily="34" charset="-122"/>
                          <a:cs typeface="B Nazanin" pitchFamily="34" charset="-120"/>
                        </a:rPr>
                        <a:t>حداقل سرمایه</a:t>
                      </a:r>
                      <a:endParaRPr lang="en-US" sz="1200" dirty="0">
                        <a:latin typeface="B Nazanin" charset="0"/>
                        <a:ea typeface="B Nazanin" charset="0"/>
                        <a:cs typeface="B Nazan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B Nazanin" pitchFamily="34" charset="0"/>
                          <a:ea typeface="B Nazanin" pitchFamily="34" charset="-122"/>
                          <a:cs typeface="B Nazanin" pitchFamily="34" charset="-120"/>
                        </a:rPr>
                        <a:t>نوع شرکت</a:t>
                      </a:r>
                      <a:endParaRPr lang="en-US" sz="1200" dirty="0">
                        <a:latin typeface="B Nazanin" charset="0"/>
                        <a:ea typeface="B Nazanin" charset="0"/>
                        <a:cs typeface="B Nazan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B Nazanin" pitchFamily="34" charset="0"/>
                          <a:ea typeface="B Nazanin" pitchFamily="34" charset="-122"/>
                          <a:cs typeface="B Nazanin" pitchFamily="34" charset="-120"/>
                        </a:rPr>
                        <a:t>شرکت‌های بزرگ بورسی</a:t>
                      </a:r>
                      <a:endParaRPr lang="en-US" sz="1100" dirty="0">
                        <a:latin typeface="B Nazanin" charset="0"/>
                        <a:ea typeface="B Nazanin" charset="0"/>
                        <a:cs typeface="B Nazan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B Nazanin" pitchFamily="34" charset="0"/>
                          <a:ea typeface="B Nazanin" pitchFamily="34" charset="-122"/>
                          <a:cs typeface="B Nazanin" pitchFamily="34" charset="-120"/>
                        </a:rPr>
                        <a:t>محدود به سهام</a:t>
                      </a:r>
                      <a:endParaRPr lang="en-US" sz="1100" dirty="0">
                        <a:latin typeface="B Nazanin" charset="0"/>
                        <a:ea typeface="B Nazanin" charset="0"/>
                        <a:cs typeface="B Nazan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B Nazanin" pitchFamily="34" charset="0"/>
                          <a:ea typeface="B Nazanin" pitchFamily="34" charset="-122"/>
                          <a:cs typeface="B Nazanin" pitchFamily="34" charset="-120"/>
                        </a:rPr>
                        <a:t>۵ نفر</a:t>
                      </a:r>
                      <a:endParaRPr lang="en-US" sz="1100" dirty="0">
                        <a:latin typeface="B Nazanin" charset="0"/>
                        <a:ea typeface="B Nazanin" charset="0"/>
                        <a:cs typeface="B Nazan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B Nazanin" pitchFamily="34" charset="0"/>
                          <a:ea typeface="B Nazanin" pitchFamily="34" charset="-122"/>
                          <a:cs typeface="B Nazanin" pitchFamily="34" charset="-120"/>
                        </a:rPr>
                        <a:t>بالا</a:t>
                      </a:r>
                      <a:endParaRPr lang="en-US" sz="1100" dirty="0">
                        <a:latin typeface="B Nazanin" charset="0"/>
                        <a:ea typeface="B Nazanin" charset="0"/>
                        <a:cs typeface="B Nazan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C3AED"/>
                          </a:solidFill>
                          <a:latin typeface="B Nazanin" pitchFamily="34" charset="0"/>
                          <a:ea typeface="B Nazanin" pitchFamily="34" charset="-122"/>
                          <a:cs typeface="B Nazanin" pitchFamily="34" charset="-120"/>
                        </a:rPr>
                        <a:t>سهامی عام</a:t>
                      </a:r>
                      <a:endParaRPr lang="en-US" sz="1100" dirty="0">
                        <a:latin typeface="B Nazanin" charset="0"/>
                        <a:ea typeface="B Nazanin" charset="0"/>
                        <a:cs typeface="B Nazan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B Nazanin" pitchFamily="34" charset="0"/>
                          <a:ea typeface="B Nazanin" pitchFamily="34" charset="-122"/>
                          <a:cs typeface="B Nazanin" pitchFamily="34" charset="-120"/>
                        </a:rPr>
                        <a:t>استارتاپ و شرکت متوسط</a:t>
                      </a:r>
                      <a:endParaRPr lang="en-US" sz="1100" dirty="0">
                        <a:latin typeface="B Nazanin" charset="0"/>
                        <a:ea typeface="B Nazanin" charset="0"/>
                        <a:cs typeface="B Nazan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B Nazanin" pitchFamily="34" charset="0"/>
                          <a:ea typeface="B Nazanin" pitchFamily="34" charset="-122"/>
                          <a:cs typeface="B Nazanin" pitchFamily="34" charset="-120"/>
                        </a:rPr>
                        <a:t>محدود به سهام</a:t>
                      </a:r>
                      <a:endParaRPr lang="en-US" sz="1100" dirty="0">
                        <a:latin typeface="B Nazanin" charset="0"/>
                        <a:ea typeface="B Nazanin" charset="0"/>
                        <a:cs typeface="B Nazan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B Nazanin" pitchFamily="34" charset="0"/>
                          <a:ea typeface="B Nazanin" pitchFamily="34" charset="-122"/>
                          <a:cs typeface="B Nazanin" pitchFamily="34" charset="-120"/>
                        </a:rPr>
                        <a:t>۳ نفر</a:t>
                      </a:r>
                      <a:endParaRPr lang="en-US" sz="1100" dirty="0">
                        <a:latin typeface="B Nazanin" charset="0"/>
                        <a:ea typeface="B Nazanin" charset="0"/>
                        <a:cs typeface="B Nazan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B Nazanin" pitchFamily="34" charset="0"/>
                          <a:ea typeface="B Nazanin" pitchFamily="34" charset="-122"/>
                          <a:cs typeface="B Nazanin" pitchFamily="34" charset="-120"/>
                        </a:rPr>
                        <a:t>کم</a:t>
                      </a:r>
                      <a:endParaRPr lang="en-US" sz="1100" dirty="0">
                        <a:latin typeface="B Nazanin" charset="0"/>
                        <a:ea typeface="B Nazanin" charset="0"/>
                        <a:cs typeface="B Nazan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B Nazanin" pitchFamily="34" charset="0"/>
                          <a:ea typeface="B Nazanin" pitchFamily="34" charset="-122"/>
                          <a:cs typeface="B Nazanin" pitchFamily="34" charset="-120"/>
                        </a:rPr>
                        <a:t>سهامی خاص</a:t>
                      </a:r>
                      <a:endParaRPr lang="en-US" sz="1100" dirty="0">
                        <a:latin typeface="B Nazanin" charset="0"/>
                        <a:ea typeface="B Nazanin" charset="0"/>
                        <a:cs typeface="B Nazan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B Nazanin" pitchFamily="34" charset="0"/>
                          <a:ea typeface="B Nazanin" pitchFamily="34" charset="-122"/>
                          <a:cs typeface="B Nazanin" pitchFamily="34" charset="-120"/>
                        </a:rPr>
                        <a:t>کسب‌وکار کوچک خانوادگی</a:t>
                      </a:r>
                      <a:endParaRPr lang="en-US" sz="1100" dirty="0">
                        <a:latin typeface="B Nazanin" charset="0"/>
                        <a:ea typeface="B Nazanin" charset="0"/>
                        <a:cs typeface="B Nazan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B Nazanin" pitchFamily="34" charset="0"/>
                          <a:ea typeface="B Nazanin" pitchFamily="34" charset="-122"/>
                          <a:cs typeface="B Nazanin" pitchFamily="34" charset="-120"/>
                        </a:rPr>
                        <a:t>محدود به سهم‌الشرکه</a:t>
                      </a:r>
                      <a:endParaRPr lang="en-US" sz="1100" dirty="0">
                        <a:latin typeface="B Nazanin" charset="0"/>
                        <a:ea typeface="B Nazanin" charset="0"/>
                        <a:cs typeface="B Nazan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B Nazanin" pitchFamily="34" charset="0"/>
                          <a:ea typeface="B Nazanin" pitchFamily="34" charset="-122"/>
                          <a:cs typeface="B Nazanin" pitchFamily="34" charset="-120"/>
                        </a:rPr>
                        <a:t>۲ نفر</a:t>
                      </a:r>
                      <a:endParaRPr lang="en-US" sz="1100" dirty="0">
                        <a:latin typeface="B Nazanin" charset="0"/>
                        <a:ea typeface="B Nazanin" charset="0"/>
                        <a:cs typeface="B Nazan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B Nazanin" pitchFamily="34" charset="0"/>
                          <a:ea typeface="B Nazanin" pitchFamily="34" charset="-122"/>
                          <a:cs typeface="B Nazanin" pitchFamily="34" charset="-120"/>
                        </a:rPr>
                        <a:t>بدون حداقل</a:t>
                      </a:r>
                      <a:endParaRPr lang="en-US" sz="1100" dirty="0">
                        <a:latin typeface="B Nazanin" charset="0"/>
                        <a:ea typeface="B Nazanin" charset="0"/>
                        <a:cs typeface="B Nazan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B Nazanin" pitchFamily="34" charset="0"/>
                          <a:ea typeface="B Nazanin" pitchFamily="34" charset="-122"/>
                          <a:cs typeface="B Nazanin" pitchFamily="34" charset="-120"/>
                        </a:rPr>
                        <a:t>مسئولیت محدود</a:t>
                      </a:r>
                      <a:endParaRPr lang="en-US" sz="1100" dirty="0">
                        <a:latin typeface="B Nazanin" charset="0"/>
                        <a:ea typeface="B Nazanin" charset="0"/>
                        <a:cs typeface="B Nazan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B Nazanin" pitchFamily="34" charset="0"/>
                          <a:ea typeface="B Nazanin" pitchFamily="34" charset="-122"/>
                          <a:cs typeface="B Nazanin" pitchFamily="34" charset="-120"/>
                        </a:rPr>
                        <a:t>فعالیت مبتنی بر اعتماد</a:t>
                      </a:r>
                      <a:endParaRPr lang="en-US" sz="1100" dirty="0">
                        <a:latin typeface="B Nazanin" charset="0"/>
                        <a:ea typeface="B Nazanin" charset="0"/>
                        <a:cs typeface="B Nazan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B Nazanin" pitchFamily="34" charset="0"/>
                          <a:ea typeface="B Nazanin" pitchFamily="34" charset="-122"/>
                          <a:cs typeface="B Nazanin" pitchFamily="34" charset="-120"/>
                        </a:rPr>
                        <a:t>نامحدود</a:t>
                      </a:r>
                      <a:endParaRPr lang="en-US" sz="1100" dirty="0">
                        <a:latin typeface="B Nazanin" charset="0"/>
                        <a:ea typeface="B Nazanin" charset="0"/>
                        <a:cs typeface="B Nazan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B Nazanin" pitchFamily="34" charset="0"/>
                          <a:ea typeface="B Nazanin" pitchFamily="34" charset="-122"/>
                          <a:cs typeface="B Nazanin" pitchFamily="34" charset="-120"/>
                        </a:rPr>
                        <a:t>۲ نفر</a:t>
                      </a:r>
                      <a:endParaRPr lang="en-US" sz="1100" dirty="0">
                        <a:latin typeface="B Nazanin" charset="0"/>
                        <a:ea typeface="B Nazanin" charset="0"/>
                        <a:cs typeface="B Nazan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B Nazanin" pitchFamily="34" charset="0"/>
                          <a:ea typeface="B Nazanin" pitchFamily="34" charset="-122"/>
                          <a:cs typeface="B Nazanin" pitchFamily="34" charset="-120"/>
                        </a:rPr>
                        <a:t>مشخص نشده</a:t>
                      </a:r>
                      <a:endParaRPr lang="en-US" sz="1100" dirty="0">
                        <a:latin typeface="B Nazanin" charset="0"/>
                        <a:ea typeface="B Nazanin" charset="0"/>
                        <a:cs typeface="B Nazan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B Nazanin" pitchFamily="34" charset="0"/>
                          <a:ea typeface="B Nazanin" pitchFamily="34" charset="-122"/>
                          <a:cs typeface="B Nazanin" pitchFamily="34" charset="-120"/>
                        </a:rPr>
                        <a:t>تضامنی</a:t>
                      </a:r>
                      <a:endParaRPr lang="en-US" sz="1100" dirty="0">
                        <a:latin typeface="B Nazanin" charset="0"/>
                        <a:ea typeface="B Nazanin" charset="0"/>
                        <a:cs typeface="B Nazan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B Nazanin" pitchFamily="34" charset="0"/>
                          <a:ea typeface="B Nazanin" pitchFamily="34" charset="-122"/>
                          <a:cs typeface="B Nazanin" pitchFamily="34" charset="-120"/>
                        </a:rPr>
                        <a:t>فعالیت‌های مشارکتی</a:t>
                      </a:r>
                      <a:endParaRPr lang="en-US" sz="1100" dirty="0">
                        <a:latin typeface="B Nazanin" charset="0"/>
                        <a:ea typeface="B Nazanin" charset="0"/>
                        <a:cs typeface="B Nazan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B Nazanin" pitchFamily="34" charset="0"/>
                          <a:ea typeface="B Nazanin" pitchFamily="34" charset="-122"/>
                          <a:cs typeface="B Nazanin" pitchFamily="34" charset="-120"/>
                        </a:rPr>
                        <a:t>محدود</a:t>
                      </a:r>
                      <a:endParaRPr lang="en-US" sz="1100" dirty="0">
                        <a:latin typeface="B Nazanin" charset="0"/>
                        <a:ea typeface="B Nazanin" charset="0"/>
                        <a:cs typeface="B Nazan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B Nazanin" pitchFamily="34" charset="0"/>
                          <a:ea typeface="B Nazanin" pitchFamily="34" charset="-122"/>
                          <a:cs typeface="B Nazanin" pitchFamily="34" charset="-120"/>
                        </a:rPr>
                        <a:t>۷ نفر</a:t>
                      </a:r>
                      <a:endParaRPr lang="en-US" sz="1100" dirty="0">
                        <a:latin typeface="B Nazanin" charset="0"/>
                        <a:ea typeface="B Nazanin" charset="0"/>
                        <a:cs typeface="B Nazan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B Nazanin" pitchFamily="34" charset="0"/>
                          <a:ea typeface="B Nazanin" pitchFamily="34" charset="-122"/>
                          <a:cs typeface="B Nazanin" pitchFamily="34" charset="-120"/>
                        </a:rPr>
                        <a:t>متغیر</a:t>
                      </a:r>
                      <a:endParaRPr lang="en-US" sz="1100" dirty="0">
                        <a:latin typeface="B Nazanin" charset="0"/>
                        <a:ea typeface="B Nazanin" charset="0"/>
                        <a:cs typeface="B Nazan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B Nazanin" pitchFamily="34" charset="0"/>
                          <a:ea typeface="B Nazanin" pitchFamily="34" charset="-122"/>
                          <a:cs typeface="B Nazanin" pitchFamily="34" charset="-120"/>
                        </a:rPr>
                        <a:t>تعاونی</a:t>
                      </a:r>
                      <a:endParaRPr lang="en-US" sz="1100" dirty="0">
                        <a:latin typeface="B Nazanin" charset="0"/>
                        <a:ea typeface="B Nazanin" charset="0"/>
                        <a:cs typeface="B Nazani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3-5"/>
          <p:cNvSpPr/>
          <p:nvPr/>
        </p:nvSpPr>
        <p:spPr>
          <a:xfrm>
            <a:off x="1371600" y="5760720"/>
            <a:ext cx="9418320" cy="457200"/>
          </a:xfrm>
          <a:prstGeom prst="roundRect">
            <a:avLst>
              <a:gd name="adj" fmla="val 50000"/>
            </a:avLst>
          </a:prstGeom>
          <a:solidFill>
            <a:srgbClr val="059669">
              <a:alpha val="12000"/>
            </a:srgbClr>
          </a:solidFill>
          <a:ln/>
        </p:spPr>
      </p:sp>
      <p:sp>
        <p:nvSpPr>
          <p:cNvPr id="8" name="c3-6"/>
          <p:cNvSpPr txBox="1"/>
          <p:nvPr/>
        </p:nvSpPr>
        <p:spPr>
          <a:xfrm>
            <a:off x="1371600" y="576072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✔  برای اکثر کارآفرینان: «سهامی خاص» یا «مسئولیت محدود» بهترین انتخاب است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4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30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30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4" grpId="0"/>
      <p:bldGraphic spid="10" grpId="0">
        <p:bldAsOne/>
      </p:bldGraphic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029200" cy="5029200"/>
          </a:xfrm>
          <a:prstGeom prst="ellipse">
            <a:avLst/>
          </a:prstGeom>
          <a:solidFill>
            <a:srgbClr val="2563EB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3657600"/>
            <a:ext cx="4114800" cy="4114800"/>
          </a:xfrm>
          <a:prstGeom prst="ellipse">
            <a:avLst/>
          </a:prstGeom>
          <a:solidFill>
            <a:srgbClr val="7C3AED">
              <a:alpha val="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0" y="-1371600"/>
            <a:ext cx="2560320" cy="2560320"/>
          </a:xfrm>
          <a:prstGeom prst="ellipse">
            <a:avLst/>
          </a:prstGeom>
          <a:solidFill>
            <a:srgbClr val="D97706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371600" y="5486400"/>
            <a:ext cx="2286000" cy="2286000"/>
          </a:xfrm>
          <a:prstGeom prst="ellipse">
            <a:avLst/>
          </a:prstGeom>
          <a:solidFill>
            <a:srgbClr val="059669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c1-1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B Titr" pitchFamily="34" charset="0"/>
                <a:ea typeface="B Titr" pitchFamily="34" charset="-122"/>
                <a:cs typeface="B Titr" pitchFamily="34" charset="-120"/>
              </a:rPr>
              <a:t>جمع‌بندی و نکات کلیدی</a:t>
            </a:r>
            <a:endParaRPr lang="en-US" sz="3800" dirty="0"/>
          </a:p>
        </p:txBody>
      </p:sp>
      <p:sp>
        <p:nvSpPr>
          <p:cNvPr id="7" name="c2-2"/>
          <p:cNvSpPr/>
          <p:nvPr/>
        </p:nvSpPr>
        <p:spPr>
          <a:xfrm>
            <a:off x="1371600" y="1371600"/>
            <a:ext cx="9418320" cy="868680"/>
          </a:xfrm>
          <a:prstGeom prst="roundRect">
            <a:avLst>
              <a:gd name="adj" fmla="val 1578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16200000">
              <a:srgbClr val="000000">
                <a:alpha val="20000"/>
              </a:srgbClr>
            </a:outerShdw>
          </a:effectLst>
        </p:spPr>
      </p:sp>
      <p:sp>
        <p:nvSpPr>
          <p:cNvPr id="8" name="c2-3"/>
          <p:cNvSpPr/>
          <p:nvPr/>
        </p:nvSpPr>
        <p:spPr>
          <a:xfrm>
            <a:off x="10149840" y="155448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c2-4"/>
          <p:cNvSpPr txBox="1"/>
          <p:nvPr/>
        </p:nvSpPr>
        <p:spPr>
          <a:xfrm>
            <a:off x="101498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۱</a:t>
            </a:r>
            <a:endParaRPr lang="en-US" sz="1800" dirty="0"/>
          </a:p>
        </p:txBody>
      </p:sp>
      <p:sp>
        <p:nvSpPr>
          <p:cNvPr id="10" name="c2-5"/>
          <p:cNvSpPr txBox="1"/>
          <p:nvPr/>
        </p:nvSpPr>
        <p:spPr>
          <a:xfrm>
            <a:off x="1828800" y="15087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انتخاب نوع شرکت باید با توجه به نوع فعالیت، میزان سرمایه و تعداد شرکا باشد</a:t>
            </a:r>
            <a:endParaRPr lang="en-US" sz="1500" dirty="0"/>
          </a:p>
        </p:txBody>
      </p:sp>
      <p:sp>
        <p:nvSpPr>
          <p:cNvPr id="11" name="c2-6"/>
          <p:cNvSpPr/>
          <p:nvPr/>
        </p:nvSpPr>
        <p:spPr>
          <a:xfrm>
            <a:off x="1371600" y="2468880"/>
            <a:ext cx="9418320" cy="868680"/>
          </a:xfrm>
          <a:prstGeom prst="roundRect">
            <a:avLst>
              <a:gd name="adj" fmla="val 1578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16200000">
              <a:srgbClr val="000000">
                <a:alpha val="20000"/>
              </a:srgbClr>
            </a:outerShdw>
          </a:effectLst>
        </p:spPr>
      </p:sp>
      <p:sp>
        <p:nvSpPr>
          <p:cNvPr id="12" name="c2-7"/>
          <p:cNvSpPr/>
          <p:nvPr/>
        </p:nvSpPr>
        <p:spPr>
          <a:xfrm>
            <a:off x="10149840" y="265176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3" name="c2-8"/>
          <p:cNvSpPr txBox="1"/>
          <p:nvPr/>
        </p:nvSpPr>
        <p:spPr>
          <a:xfrm>
            <a:off x="1014984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۲</a:t>
            </a:r>
            <a:endParaRPr lang="en-US" sz="1800" dirty="0"/>
          </a:p>
        </p:txBody>
      </p:sp>
      <p:sp>
        <p:nvSpPr>
          <p:cNvPr id="14" name="c2-9"/>
          <p:cNvSpPr txBox="1"/>
          <p:nvPr/>
        </p:nvSpPr>
        <p:spPr>
          <a:xfrm>
            <a:off x="1828800" y="2606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سهامی خاص و مسئولیت محدود محبوب‌ترین و عملی‌ترین گزینه‌ها هستند</a:t>
            </a:r>
            <a:endParaRPr lang="en-US" sz="1500" dirty="0"/>
          </a:p>
        </p:txBody>
      </p:sp>
      <p:sp>
        <p:nvSpPr>
          <p:cNvPr id="15" name="c2-10"/>
          <p:cNvSpPr/>
          <p:nvPr/>
        </p:nvSpPr>
        <p:spPr>
          <a:xfrm>
            <a:off x="1371600" y="3566160"/>
            <a:ext cx="9418320" cy="868680"/>
          </a:xfrm>
          <a:prstGeom prst="roundRect">
            <a:avLst>
              <a:gd name="adj" fmla="val 1578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16200000">
              <a:srgbClr val="000000">
                <a:alpha val="20000"/>
              </a:srgbClr>
            </a:outerShdw>
          </a:effectLst>
        </p:spPr>
      </p:sp>
      <p:sp>
        <p:nvSpPr>
          <p:cNvPr id="16" name="c2-11"/>
          <p:cNvSpPr/>
          <p:nvPr/>
        </p:nvSpPr>
        <p:spPr>
          <a:xfrm>
            <a:off x="10149840" y="3749040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7" name="c2-12"/>
          <p:cNvSpPr txBox="1"/>
          <p:nvPr/>
        </p:nvSpPr>
        <p:spPr>
          <a:xfrm>
            <a:off x="1014984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۳</a:t>
            </a:r>
            <a:endParaRPr lang="en-US" sz="1800" dirty="0"/>
          </a:p>
        </p:txBody>
      </p:sp>
      <p:sp>
        <p:nvSpPr>
          <p:cNvPr id="18" name="c2-13"/>
          <p:cNvSpPr txBox="1"/>
          <p:nvPr/>
        </p:nvSpPr>
        <p:spPr>
          <a:xfrm>
            <a:off x="1828800" y="3703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هرچه مسئولیت شرکا بیشتر باشد ← ریسک بالاتر ولی اعتبار بیشتر</a:t>
            </a:r>
            <a:endParaRPr lang="en-US" sz="1500" dirty="0"/>
          </a:p>
        </p:txBody>
      </p:sp>
      <p:sp>
        <p:nvSpPr>
          <p:cNvPr id="19" name="c2-14"/>
          <p:cNvSpPr/>
          <p:nvPr/>
        </p:nvSpPr>
        <p:spPr>
          <a:xfrm>
            <a:off x="1371600" y="4663440"/>
            <a:ext cx="9418320" cy="868680"/>
          </a:xfrm>
          <a:prstGeom prst="roundRect">
            <a:avLst>
              <a:gd name="adj" fmla="val 1578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16200000">
              <a:srgbClr val="000000">
                <a:alpha val="20000"/>
              </a:srgbClr>
            </a:outerShdw>
          </a:effectLst>
        </p:spPr>
      </p:sp>
      <p:sp>
        <p:nvSpPr>
          <p:cNvPr id="20" name="c2-15"/>
          <p:cNvSpPr/>
          <p:nvPr/>
        </p:nvSpPr>
        <p:spPr>
          <a:xfrm>
            <a:off x="10149840" y="4846320"/>
            <a:ext cx="502920" cy="5029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1" name="c2-16"/>
          <p:cNvSpPr txBox="1"/>
          <p:nvPr/>
        </p:nvSpPr>
        <p:spPr>
          <a:xfrm>
            <a:off x="10149840" y="4846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۴</a:t>
            </a:r>
            <a:endParaRPr lang="en-US" sz="1800" dirty="0"/>
          </a:p>
        </p:txBody>
      </p:sp>
      <p:sp>
        <p:nvSpPr>
          <p:cNvPr id="22" name="c2-17"/>
          <p:cNvSpPr txBox="1"/>
          <p:nvPr/>
        </p:nvSpPr>
        <p:spPr>
          <a:xfrm>
            <a:off x="1828800" y="4800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B Nazanin" pitchFamily="34" charset="0"/>
                <a:ea typeface="B Nazanin" pitchFamily="34" charset="-122"/>
                <a:cs typeface="B Nazanin" pitchFamily="34" charset="-120"/>
              </a:rPr>
              <a:t>برای کارآفرینی، سهامی خاص را به عنوان اولین گزینه در نظر بگیرید</a:t>
            </a:r>
            <a:endParaRPr lang="en-US" sz="1500" dirty="0"/>
          </a:p>
        </p:txBody>
      </p:sp>
      <p:sp>
        <p:nvSpPr>
          <p:cNvPr id="23" name="c3-18"/>
          <p:cNvSpPr txBox="1"/>
          <p:nvPr/>
        </p:nvSpPr>
        <p:spPr>
          <a:xfrm>
            <a:off x="731520" y="54864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 Titr" pitchFamily="34" charset="0"/>
                <a:ea typeface="B Titr" pitchFamily="34" charset="-122"/>
                <a:cs typeface="B Titr" pitchFamily="34" charset="-120"/>
              </a:rPr>
              <a:t>با تشکر از توجه شما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4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30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30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theme/theme1.xml><?xml version="1.0" encoding="utf-8"?>
<a:theme xmlns:a="http://schemas.openxmlformats.org/drawingml/2006/main" name="Tejarat">
  <a:themeElements>
    <a:clrScheme name="Tejarat">
      <a:dk1>
        <a:srgbClr val="1E293B"/>
      </a:dk1>
      <a:lt1>
        <a:srgbClr val="FFFFFF"/>
      </a:lt1>
      <a:dk2>
        <a:srgbClr val="64748B"/>
      </a:dk2>
      <a:lt2>
        <a:srgbClr val="F1F5F9"/>
      </a:lt2>
      <a:accent1>
        <a:srgbClr val="2563EB"/>
      </a:accent1>
      <a:accent2>
        <a:srgbClr val="7C3AED"/>
      </a:accent2>
      <a:accent3>
        <a:srgbClr val="0891B2"/>
      </a:accent3>
      <a:accent4>
        <a:srgbClr val="D97706"/>
      </a:accent4>
      <a:accent5>
        <a:srgbClr val="DC2626"/>
      </a:accent5>
      <a:accent6>
        <a:srgbClr val="059669"/>
      </a:accent6>
      <a:hlink>
        <a:srgbClr val="2563EB"/>
      </a:hlink>
      <a:folHlink>
        <a:srgbClr val="7C3AED"/>
      </a:folHlink>
    </a:clrScheme>
    <a:fontScheme name="Tejarat">
      <a:majorFont>
        <a:latin typeface="B Tit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 Nazani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انواع شرکت‌های تجاری متداول در ایران</dc:title>
  <dc:subject>انواع شرکت‌های تجاری متداول در ایران</dc:subject>
  <dc:creator>Student</dc:creator>
  <cp:lastModifiedBy>Student</cp:lastModifiedBy>
  <cp:revision>1</cp:revision>
  <dcterms:created xsi:type="dcterms:W3CDTF">2026-10-25T18:00:24Z</dcterms:created>
  <dcterms:modified xsi:type="dcterms:W3CDTF">2026-10-25T18:00:24Z</dcterms:modified>
</cp:coreProperties>
</file>