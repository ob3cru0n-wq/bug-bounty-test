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80ac147a-5d73-75dc-4b39-78e434a65c33}">
          <p14:sldIdLst>
            <p14:sldId id="256"/>
          </p14:sldIdLst>
        </p14:section>
        <p14:section name="Vision" id="{4008b90c-02a6-32a7-41ef-a5902bbcd471}">
          <p14:sldIdLst>
            <p14:sldId id="257"/>
          </p14:sldIdLst>
        </p14:section>
        <p14:section name="Metrics" id="{f16d59d5-9f0f-894e-d214-f936b0af6e61}">
          <p14:sldIdLst>
            <p14:sldId id="258"/>
          </p14:sldIdLst>
        </p14:section>
        <p14:section name="Market" id="{b7827484-4ece-d663-8b0a-f3d64683df3f}">
          <p14:sldIdLst>
            <p14:sldId id="259"/>
          </p14:sldIdLst>
        </p14:section>
        <p14:section name="Strategy" id="{8d0fca0e-ece9-2a54-ba19-3cc58708b472}">
          <p14:sldIdLst>
            <p14:sldId id="260"/>
          </p14:sldIdLst>
        </p14:section>
        <p14:section name="Roadmap" id="{3b1981b7-124d-325d-4d4e-707db3637183}">
          <p14:sldIdLst>
            <p14:sldId id="261"/>
          </p14:sldIdLst>
        </p14:section>
        <p14:section name="Results" id="{d3b9cff6-6b1a-0288-ed0e-3bc9a41630ef}">
          <p14:sldIdLst>
            <p14:sldId id="262"/>
          </p14:sldIdLst>
        </p14:section>
        <p14:section name="Next Steps" id="{7e69a90b-2a2a-ae2f-435b-d62de7504904}">
          <p14:sldIdLst>
            <p14:sldId id="263"/>
          </p14:sldIdLst>
        </p14:section>
        <p14:section name="Close" id="{50b70c14-7085-6669-f84f-179728bc5b86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Market ($B)</c:v>
                </c:pt>
              </c:strCache>
            </c:strRef>
          </c:tx>
          <c:spPr>
            <a:solidFill>
              <a:srgbClr val="6366F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2024</c:v>
                  </c:pt>
                  <c:pt idx="1">
                    <c:v>2025</c:v>
                  </c:pt>
                  <c:pt idx="2">
                    <c:v>2026</c:v>
                  </c:pt>
                  <c:pt idx="3">
                    <c:v>2027E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58</c:v>
                </c:pt>
                <c:pt idx="2">
                  <c:v>78</c:v>
                </c:pt>
                <c:pt idx="3">
                  <c:v>105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Our Revenue ($M)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2024</c:v>
                  </c:pt>
                  <c:pt idx="1">
                    <c:v>2025</c:v>
                  </c:pt>
                  <c:pt idx="2">
                    <c:v>2026</c:v>
                  </c:pt>
                  <c:pt idx="3">
                    <c:v>2027E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</c:v>
                </c:pt>
                <c:pt idx="1">
                  <c:v>14</c:v>
                </c:pt>
                <c:pt idx="2">
                  <c:v>19</c:v>
                </c:pt>
                <c:pt idx="3">
                  <c:v>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4748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6366F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4.2</c:v>
                </c:pt>
                <c:pt idx="1">
                  <c:v>5.8</c:v>
                </c:pt>
                <c:pt idx="2">
                  <c:v>6.9</c:v>
                </c:pt>
                <c:pt idx="3">
                  <c:v>7.9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 - Elevate Strategic Vision &amp; Growth Plan 2027.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Vision slide: Innovate, Scale, Impact.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metrics: $24.8M revenue, 1.2M users, 98.7% uptime, 4.9/5 rating.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 opportunity: TAM growing from $42B to $105B by 2027.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Strategy pillars: AI-First, Global Expansion, Customer Success, Platform Security.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Roadmap: Foundation, Acceleration, Scale, Dominate through 2027.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Quarterly revenue and key highlights.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steps: AI architecture, APAC launch, team scaling, Series C prep.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 with contact information.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4-1.png"/><Relationship Id="rId3" Type="http://schemas.openxmlformats.org/officeDocument/2006/relationships/image" Target="../media/image-4-2.png"/><Relationship Id="rId4" Type="http://schemas.openxmlformats.org/officeDocument/2006/relationships/image" Target="../media/image-4-3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6366F1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4114800"/>
            <a:ext cx="3657600" cy="3657600"/>
          </a:xfrm>
          <a:prstGeom prst="ellipse">
            <a:avLst/>
          </a:prstGeom>
          <a:solidFill>
            <a:srgbClr val="8B5CF6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0" y="-914400"/>
            <a:ext cx="2286000" cy="2286000"/>
          </a:xfrm>
          <a:prstGeom prst="ellipse">
            <a:avLst/>
          </a:prstGeom>
          <a:solidFill>
            <a:srgbClr val="EC4899">
              <a:alpha val="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914400" y="5029200"/>
            <a:ext cx="2286000" cy="2286000"/>
          </a:xfrm>
          <a:prstGeom prst="ellipse">
            <a:avLst/>
          </a:prstGeom>
          <a:solidFill>
            <a:srgbClr val="3B82F6">
              <a:alpha val="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c1-1"/>
          <p:cNvSpPr txBox="1"/>
          <p:nvPr/>
        </p:nvSpPr>
        <p:spPr>
          <a:xfrm>
            <a:off x="731520" y="182880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spc="800" kern="0" dirty="0">
                <a:solidFill>
                  <a:srgbClr val="FFFFFF"/>
                </a:solidFill>
              </a:rPr>
              <a:t>ELEVATE</a:t>
            </a:r>
            <a:endParaRPr lang="en-US" sz="7200" dirty="0"/>
          </a:p>
        </p:txBody>
      </p:sp>
      <p:sp>
        <p:nvSpPr>
          <p:cNvPr id="7" name="c1-2"/>
          <p:cNvSpPr txBox="1"/>
          <p:nvPr/>
        </p:nvSpPr>
        <p:spPr>
          <a:xfrm>
            <a:off x="731520" y="3200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94A3B8"/>
                </a:solidFill>
              </a:rPr>
              <a:t>Strategic Vision &amp; Growth Plan 2027</a:t>
            </a:r>
            <a:endParaRPr lang="en-US" sz="2200" dirty="0"/>
          </a:p>
        </p:txBody>
      </p:sp>
      <p:sp>
        <p:nvSpPr>
          <p:cNvPr id="8" name="c2-3"/>
          <p:cNvSpPr txBox="1"/>
          <p:nvPr/>
        </p:nvSpPr>
        <p:spPr>
          <a:xfrm>
            <a:off x="731520" y="4114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Q4 Strategic Review  |  October 2027</a:t>
            </a:r>
            <a:endParaRPr lang="en-US" sz="1300" dirty="0"/>
          </a:p>
        </p:txBody>
      </p:sp>
      <p:sp>
        <p:nvSpPr>
          <p:cNvPr id="9" name="c2-4bg"/>
          <p:cNvSpPr/>
          <p:nvPr/>
        </p:nvSpPr>
        <p:spPr>
          <a:xfrm>
            <a:off x="731520" y="5486400"/>
            <a:ext cx="411480" cy="41148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10" name="c2-4ic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5568696"/>
            <a:ext cx="246888" cy="246888"/>
          </a:xfrm>
          <a:prstGeom prst="rect">
            <a:avLst/>
          </a:prstGeom>
        </p:spPr>
      </p:pic>
      <p:sp>
        <p:nvSpPr>
          <p:cNvPr id="11" name="c2-5"/>
          <p:cNvSpPr txBox="1"/>
          <p:nvPr/>
        </p:nvSpPr>
        <p:spPr>
          <a:xfrm>
            <a:off x="1280160" y="55046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Prepared for Leadership Team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4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30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1" grpId="0"/>
      <p:bldP spid="1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1-1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E293B"/>
                </a:solidFill>
              </a:rPr>
              <a:t>Our Vision</a:t>
            </a:r>
            <a:endParaRPr lang="en-US" sz="4000" dirty="0"/>
          </a:p>
        </p:txBody>
      </p:sp>
      <p:sp>
        <p:nvSpPr>
          <p:cNvPr id="3" name="c1-2"/>
          <p:cNvSpPr txBox="1"/>
          <p:nvPr/>
        </p:nvSpPr>
        <p:spPr>
          <a:xfrm>
            <a:off x="731520" y="1280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4748B"/>
                </a:solidFill>
              </a:rPr>
              <a:t>Empowering organizations to achieve extraordinary outcomes through innovation, technology, and human-centered design.</a:t>
            </a:r>
            <a:endParaRPr lang="en-US" sz="1600" dirty="0"/>
          </a:p>
        </p:txBody>
      </p:sp>
      <p:sp>
        <p:nvSpPr>
          <p:cNvPr id="4" name="c2-3"/>
          <p:cNvSpPr/>
          <p:nvPr/>
        </p:nvSpPr>
        <p:spPr>
          <a:xfrm>
            <a:off x="731520" y="2468880"/>
            <a:ext cx="3383280" cy="3566160"/>
          </a:xfrm>
          <a:prstGeom prst="roundRect">
            <a:avLst>
              <a:gd name="adj" fmla="val 4054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27000" dist="38100" dir="16200000">
              <a:srgbClr val="000000">
                <a:alpha val="7000"/>
              </a:srgbClr>
            </a:outerShdw>
          </a:effectLst>
        </p:spPr>
      </p:sp>
      <p:sp>
        <p:nvSpPr>
          <p:cNvPr id="5" name="c2-4bg"/>
          <p:cNvSpPr/>
          <p:nvPr/>
        </p:nvSpPr>
        <p:spPr>
          <a:xfrm>
            <a:off x="1051560" y="2880360"/>
            <a:ext cx="731520" cy="731520"/>
          </a:xfrm>
          <a:prstGeom prst="ellipse">
            <a:avLst/>
          </a:prstGeom>
          <a:solidFill>
            <a:srgbClr val="F59E0B">
              <a:alpha val="18000"/>
            </a:srgbClr>
          </a:solidFill>
          <a:ln/>
        </p:spPr>
      </p:sp>
      <p:pic>
        <p:nvPicPr>
          <p:cNvPr id="6" name="c2-4ic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7864" y="3026664"/>
            <a:ext cx="438912" cy="438912"/>
          </a:xfrm>
          <a:prstGeom prst="rect">
            <a:avLst/>
          </a:prstGeom>
        </p:spPr>
      </p:pic>
      <p:sp>
        <p:nvSpPr>
          <p:cNvPr id="7" name="c2-5"/>
          <p:cNvSpPr txBox="1"/>
          <p:nvPr/>
        </p:nvSpPr>
        <p:spPr>
          <a:xfrm>
            <a:off x="1051560" y="3886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Innovate</a:t>
            </a:r>
            <a:endParaRPr lang="en-US" sz="2400" dirty="0"/>
          </a:p>
        </p:txBody>
      </p:sp>
      <p:sp>
        <p:nvSpPr>
          <p:cNvPr id="8" name="c2-6"/>
          <p:cNvSpPr txBox="1"/>
          <p:nvPr/>
        </p:nvSpPr>
        <p:spPr>
          <a:xfrm>
            <a:off x="1051560" y="44348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4748B"/>
                </a:solidFill>
              </a:rPr>
              <a:t>Push boundaries with cutting-edge solutions that redefine industry standards</a:t>
            </a:r>
            <a:endParaRPr lang="en-US" sz="1400" dirty="0"/>
          </a:p>
        </p:txBody>
      </p:sp>
      <p:sp>
        <p:nvSpPr>
          <p:cNvPr id="9" name="c3-7"/>
          <p:cNvSpPr/>
          <p:nvPr/>
        </p:nvSpPr>
        <p:spPr>
          <a:xfrm>
            <a:off x="4480560" y="2468880"/>
            <a:ext cx="3383280" cy="3566160"/>
          </a:xfrm>
          <a:prstGeom prst="roundRect">
            <a:avLst>
              <a:gd name="adj" fmla="val 4054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27000" dist="38100" dir="16200000">
              <a:srgbClr val="000000">
                <a:alpha val="7000"/>
              </a:srgbClr>
            </a:outerShdw>
          </a:effectLst>
        </p:spPr>
      </p:sp>
      <p:sp>
        <p:nvSpPr>
          <p:cNvPr id="10" name="c3-8bg"/>
          <p:cNvSpPr/>
          <p:nvPr/>
        </p:nvSpPr>
        <p:spPr>
          <a:xfrm>
            <a:off x="4800600" y="2880360"/>
            <a:ext cx="731520" cy="731520"/>
          </a:xfrm>
          <a:prstGeom prst="ellipse">
            <a:avLst/>
          </a:prstGeom>
          <a:solidFill>
            <a:srgbClr val="10B981">
              <a:alpha val="18000"/>
            </a:srgbClr>
          </a:solidFill>
          <a:ln/>
        </p:spPr>
      </p:sp>
      <p:pic>
        <p:nvPicPr>
          <p:cNvPr id="11" name="c3-8ic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6904" y="3026664"/>
            <a:ext cx="438912" cy="438912"/>
          </a:xfrm>
          <a:prstGeom prst="rect">
            <a:avLst/>
          </a:prstGeom>
        </p:spPr>
      </p:pic>
      <p:sp>
        <p:nvSpPr>
          <p:cNvPr id="12" name="c3-9"/>
          <p:cNvSpPr txBox="1"/>
          <p:nvPr/>
        </p:nvSpPr>
        <p:spPr>
          <a:xfrm>
            <a:off x="4800600" y="3886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Scale</a:t>
            </a:r>
            <a:endParaRPr lang="en-US" sz="2400" dirty="0"/>
          </a:p>
        </p:txBody>
      </p:sp>
      <p:sp>
        <p:nvSpPr>
          <p:cNvPr id="13" name="c3-10"/>
          <p:cNvSpPr txBox="1"/>
          <p:nvPr/>
        </p:nvSpPr>
        <p:spPr>
          <a:xfrm>
            <a:off x="4800600" y="44348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4748B"/>
                </a:solidFill>
              </a:rPr>
              <a:t>Build systems and teams that grow sustainably across global markets</a:t>
            </a:r>
            <a:endParaRPr lang="en-US" sz="1400" dirty="0"/>
          </a:p>
        </p:txBody>
      </p:sp>
      <p:sp>
        <p:nvSpPr>
          <p:cNvPr id="14" name="c4-11"/>
          <p:cNvSpPr/>
          <p:nvPr/>
        </p:nvSpPr>
        <p:spPr>
          <a:xfrm>
            <a:off x="8229600" y="2468880"/>
            <a:ext cx="3383280" cy="3566160"/>
          </a:xfrm>
          <a:prstGeom prst="roundRect">
            <a:avLst>
              <a:gd name="adj" fmla="val 4054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27000" dist="38100" dir="16200000">
              <a:srgbClr val="000000">
                <a:alpha val="7000"/>
              </a:srgbClr>
            </a:outerShdw>
          </a:effectLst>
        </p:spPr>
      </p:sp>
      <p:sp>
        <p:nvSpPr>
          <p:cNvPr id="15" name="c4-12bg"/>
          <p:cNvSpPr/>
          <p:nvPr/>
        </p:nvSpPr>
        <p:spPr>
          <a:xfrm>
            <a:off x="8549640" y="2880360"/>
            <a:ext cx="731520" cy="731520"/>
          </a:xfrm>
          <a:prstGeom prst="ellipse">
            <a:avLst/>
          </a:prstGeom>
          <a:solidFill>
            <a:srgbClr val="EC4899">
              <a:alpha val="18000"/>
            </a:srgbClr>
          </a:solidFill>
          <a:ln/>
        </p:spPr>
      </p:sp>
      <p:pic>
        <p:nvPicPr>
          <p:cNvPr id="16" name="c4-12ic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5944" y="3026664"/>
            <a:ext cx="438912" cy="438912"/>
          </a:xfrm>
          <a:prstGeom prst="rect">
            <a:avLst/>
          </a:prstGeom>
        </p:spPr>
      </p:pic>
      <p:sp>
        <p:nvSpPr>
          <p:cNvPr id="17" name="c4-13"/>
          <p:cNvSpPr txBox="1"/>
          <p:nvPr/>
        </p:nvSpPr>
        <p:spPr>
          <a:xfrm>
            <a:off x="8549640" y="3886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Impact</a:t>
            </a:r>
            <a:endParaRPr lang="en-US" sz="2400" dirty="0"/>
          </a:p>
        </p:txBody>
      </p:sp>
      <p:sp>
        <p:nvSpPr>
          <p:cNvPr id="18" name="c4-14"/>
          <p:cNvSpPr txBox="1"/>
          <p:nvPr/>
        </p:nvSpPr>
        <p:spPr>
          <a:xfrm>
            <a:off x="8549640" y="44348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4748B"/>
                </a:solidFill>
              </a:rPr>
              <a:t>Create lasting value for customers, communities, and stakeholders worldwide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4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30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30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30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7" grpId="0"/>
      <p:bldP spid="8" grpId="0"/>
      <p:bldP spid="6" grpId="0"/>
      <p:bldP spid="9" grpId="0"/>
      <p:bldP spid="10" grpId="0"/>
      <p:bldP spid="12" grpId="0"/>
      <p:bldP spid="13" grpId="0"/>
      <p:bldP spid="11" grpId="0"/>
      <p:bldP spid="14" grpId="0"/>
      <p:bldP spid="15" grpId="0"/>
      <p:bldP spid="17" grpId="0"/>
      <p:bldP spid="18" grpId="0"/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2743200" cy="2743200"/>
          </a:xfrm>
          <a:prstGeom prst="ellipse">
            <a:avLst/>
          </a:prstGeom>
          <a:solidFill>
            <a:srgbClr val="8B5CF6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5486400"/>
            <a:ext cx="2286000" cy="2286000"/>
          </a:xfrm>
          <a:prstGeom prst="ellipse">
            <a:avLst/>
          </a:prstGeom>
          <a:solidFill>
            <a:srgbClr val="6366F1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c1-1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Key Metrics</a:t>
            </a:r>
            <a:endParaRPr lang="en-US" sz="4000" dirty="0"/>
          </a:p>
        </p:txBody>
      </p:sp>
      <p:sp>
        <p:nvSpPr>
          <p:cNvPr id="5" name="c1-2"/>
          <p:cNvSpPr txBox="1"/>
          <p:nvPr/>
        </p:nvSpPr>
        <p:spPr>
          <a:xfrm>
            <a:off x="731520" y="1143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Performance highlights driving our growth trajectory</a:t>
            </a:r>
            <a:endParaRPr lang="en-US" sz="1600" dirty="0"/>
          </a:p>
        </p:txBody>
      </p:sp>
      <p:sp>
        <p:nvSpPr>
          <p:cNvPr id="6" name="c2-3"/>
          <p:cNvSpPr/>
          <p:nvPr/>
        </p:nvSpPr>
        <p:spPr>
          <a:xfrm>
            <a:off x="548640" y="2011680"/>
            <a:ext cx="2651760" cy="4114800"/>
          </a:xfrm>
          <a:prstGeom prst="roundRect">
            <a:avLst>
              <a:gd name="adj" fmla="val 5172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16200000">
              <a:srgbClr val="000000">
                <a:alpha val="20000"/>
              </a:srgbClr>
            </a:outerShdw>
          </a:effectLst>
        </p:spPr>
      </p:sp>
      <p:sp>
        <p:nvSpPr>
          <p:cNvPr id="7" name="c2-4bg"/>
          <p:cNvSpPr/>
          <p:nvPr/>
        </p:nvSpPr>
        <p:spPr>
          <a:xfrm>
            <a:off x="868680" y="2377440"/>
            <a:ext cx="594360" cy="594360"/>
          </a:xfrm>
          <a:prstGeom prst="ellipse">
            <a:avLst/>
          </a:prstGeom>
          <a:solidFill>
            <a:srgbClr val="10B981">
              <a:alpha val="25000"/>
            </a:srgbClr>
          </a:solidFill>
          <a:ln/>
        </p:spPr>
      </p:sp>
      <p:pic>
        <p:nvPicPr>
          <p:cNvPr id="8" name="c2-4ic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496312"/>
            <a:ext cx="356616" cy="356616"/>
          </a:xfrm>
          <a:prstGeom prst="rect">
            <a:avLst/>
          </a:prstGeom>
        </p:spPr>
      </p:pic>
      <p:sp>
        <p:nvSpPr>
          <p:cNvPr id="9" name="c2-5"/>
          <p:cNvSpPr txBox="1"/>
          <p:nvPr/>
        </p:nvSpPr>
        <p:spPr>
          <a:xfrm>
            <a:off x="868680" y="32461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$24.8M</a:t>
            </a:r>
            <a:endParaRPr lang="en-US" sz="4400" dirty="0"/>
          </a:p>
        </p:txBody>
      </p:sp>
      <p:sp>
        <p:nvSpPr>
          <p:cNvPr id="10" name="c2-6"/>
          <p:cNvSpPr txBox="1"/>
          <p:nvPr/>
        </p:nvSpPr>
        <p:spPr>
          <a:xfrm>
            <a:off x="868680" y="4114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Annual Revenue</a:t>
            </a:r>
            <a:endParaRPr lang="en-US" sz="1400" dirty="0"/>
          </a:p>
        </p:txBody>
      </p:sp>
      <p:sp>
        <p:nvSpPr>
          <p:cNvPr id="11" name="c2-7"/>
          <p:cNvSpPr txBox="1"/>
          <p:nvPr/>
        </p:nvSpPr>
        <p:spPr>
          <a:xfrm>
            <a:off x="868680" y="4572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+32% YoY</a:t>
            </a:r>
            <a:endParaRPr lang="en-US" sz="1300" dirty="0"/>
          </a:p>
        </p:txBody>
      </p:sp>
      <p:sp>
        <p:nvSpPr>
          <p:cNvPr id="12" name="c3-8"/>
          <p:cNvSpPr/>
          <p:nvPr/>
        </p:nvSpPr>
        <p:spPr>
          <a:xfrm>
            <a:off x="3474720" y="2011680"/>
            <a:ext cx="2651760" cy="4114800"/>
          </a:xfrm>
          <a:prstGeom prst="roundRect">
            <a:avLst>
              <a:gd name="adj" fmla="val 5172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16200000">
              <a:srgbClr val="000000">
                <a:alpha val="20000"/>
              </a:srgbClr>
            </a:outerShdw>
          </a:effectLst>
        </p:spPr>
      </p:sp>
      <p:sp>
        <p:nvSpPr>
          <p:cNvPr id="13" name="c3-9bg"/>
          <p:cNvSpPr/>
          <p:nvPr/>
        </p:nvSpPr>
        <p:spPr>
          <a:xfrm>
            <a:off x="3794760" y="2377440"/>
            <a:ext cx="594360" cy="594360"/>
          </a:xfrm>
          <a:prstGeom prst="ellipse">
            <a:avLst/>
          </a:prstGeom>
          <a:solidFill>
            <a:srgbClr val="EC4899">
              <a:alpha val="25000"/>
            </a:srgbClr>
          </a:solidFill>
          <a:ln/>
        </p:spPr>
      </p:sp>
      <p:pic>
        <p:nvPicPr>
          <p:cNvPr id="14" name="c3-9ic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3632" y="2496312"/>
            <a:ext cx="356616" cy="356616"/>
          </a:xfrm>
          <a:prstGeom prst="rect">
            <a:avLst/>
          </a:prstGeom>
        </p:spPr>
      </p:pic>
      <p:sp>
        <p:nvSpPr>
          <p:cNvPr id="15" name="c3-10"/>
          <p:cNvSpPr txBox="1"/>
          <p:nvPr/>
        </p:nvSpPr>
        <p:spPr>
          <a:xfrm>
            <a:off x="3794760" y="32461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1.2M</a:t>
            </a:r>
            <a:endParaRPr lang="en-US" sz="4400" dirty="0"/>
          </a:p>
        </p:txBody>
      </p:sp>
      <p:sp>
        <p:nvSpPr>
          <p:cNvPr id="16" name="c3-11"/>
          <p:cNvSpPr txBox="1"/>
          <p:nvPr/>
        </p:nvSpPr>
        <p:spPr>
          <a:xfrm>
            <a:off x="3794760" y="4114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Active Users</a:t>
            </a:r>
            <a:endParaRPr lang="en-US" sz="1400" dirty="0"/>
          </a:p>
        </p:txBody>
      </p:sp>
      <p:sp>
        <p:nvSpPr>
          <p:cNvPr id="17" name="c3-12"/>
          <p:cNvSpPr txBox="1"/>
          <p:nvPr/>
        </p:nvSpPr>
        <p:spPr>
          <a:xfrm>
            <a:off x="3794760" y="4572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C4899"/>
                </a:solidFill>
              </a:rPr>
              <a:t>+58% YoY</a:t>
            </a:r>
            <a:endParaRPr lang="en-US" sz="1300" dirty="0"/>
          </a:p>
        </p:txBody>
      </p:sp>
      <p:sp>
        <p:nvSpPr>
          <p:cNvPr id="18" name="c4-13"/>
          <p:cNvSpPr/>
          <p:nvPr/>
        </p:nvSpPr>
        <p:spPr>
          <a:xfrm>
            <a:off x="6400800" y="2011680"/>
            <a:ext cx="2651760" cy="4114800"/>
          </a:xfrm>
          <a:prstGeom prst="roundRect">
            <a:avLst>
              <a:gd name="adj" fmla="val 5172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16200000">
              <a:srgbClr val="000000">
                <a:alpha val="20000"/>
              </a:srgbClr>
            </a:outerShdw>
          </a:effectLst>
        </p:spPr>
      </p:sp>
      <p:sp>
        <p:nvSpPr>
          <p:cNvPr id="19" name="c4-14bg"/>
          <p:cNvSpPr/>
          <p:nvPr/>
        </p:nvSpPr>
        <p:spPr>
          <a:xfrm>
            <a:off x="6720840" y="2377440"/>
            <a:ext cx="594360" cy="594360"/>
          </a:xfrm>
          <a:prstGeom prst="ellipse">
            <a:avLst/>
          </a:prstGeom>
          <a:solidFill>
            <a:srgbClr val="3B82F6">
              <a:alpha val="25000"/>
            </a:srgbClr>
          </a:solidFill>
          <a:ln/>
        </p:spPr>
      </p:sp>
      <p:pic>
        <p:nvPicPr>
          <p:cNvPr id="20" name="c4-14ic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9712" y="2496312"/>
            <a:ext cx="356616" cy="356616"/>
          </a:xfrm>
          <a:prstGeom prst="rect">
            <a:avLst/>
          </a:prstGeom>
        </p:spPr>
      </p:pic>
      <p:sp>
        <p:nvSpPr>
          <p:cNvPr id="21" name="c4-15"/>
          <p:cNvSpPr txBox="1"/>
          <p:nvPr/>
        </p:nvSpPr>
        <p:spPr>
          <a:xfrm>
            <a:off x="6720840" y="32461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98.7%</a:t>
            </a:r>
            <a:endParaRPr lang="en-US" sz="4400" dirty="0"/>
          </a:p>
        </p:txBody>
      </p:sp>
      <p:sp>
        <p:nvSpPr>
          <p:cNvPr id="22" name="c4-16"/>
          <p:cNvSpPr txBox="1"/>
          <p:nvPr/>
        </p:nvSpPr>
        <p:spPr>
          <a:xfrm>
            <a:off x="6720840" y="4114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Uptime SLA</a:t>
            </a:r>
            <a:endParaRPr lang="en-US" sz="1400" dirty="0"/>
          </a:p>
        </p:txBody>
      </p:sp>
      <p:sp>
        <p:nvSpPr>
          <p:cNvPr id="23" name="c4-17"/>
          <p:cNvSpPr txBox="1"/>
          <p:nvPr/>
        </p:nvSpPr>
        <p:spPr>
          <a:xfrm>
            <a:off x="6720840" y="4572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Industry Leading</a:t>
            </a:r>
            <a:endParaRPr lang="en-US" sz="1300" dirty="0"/>
          </a:p>
        </p:txBody>
      </p:sp>
      <p:sp>
        <p:nvSpPr>
          <p:cNvPr id="24" name="c5-18"/>
          <p:cNvSpPr/>
          <p:nvPr/>
        </p:nvSpPr>
        <p:spPr>
          <a:xfrm>
            <a:off x="9326880" y="2011680"/>
            <a:ext cx="2651760" cy="4114800"/>
          </a:xfrm>
          <a:prstGeom prst="roundRect">
            <a:avLst>
              <a:gd name="adj" fmla="val 5172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16200000">
              <a:srgbClr val="000000">
                <a:alpha val="20000"/>
              </a:srgbClr>
            </a:outerShdw>
          </a:effectLst>
        </p:spPr>
      </p:sp>
      <p:sp>
        <p:nvSpPr>
          <p:cNvPr id="25" name="c5-19bg"/>
          <p:cNvSpPr/>
          <p:nvPr/>
        </p:nvSpPr>
        <p:spPr>
          <a:xfrm>
            <a:off x="9646920" y="2377440"/>
            <a:ext cx="594360" cy="594360"/>
          </a:xfrm>
          <a:prstGeom prst="ellipse">
            <a:avLst/>
          </a:prstGeom>
          <a:solidFill>
            <a:srgbClr val="F59E0B">
              <a:alpha val="25000"/>
            </a:srgbClr>
          </a:solidFill>
          <a:ln/>
        </p:spPr>
      </p:sp>
      <p:pic>
        <p:nvPicPr>
          <p:cNvPr id="26" name="c5-19ic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5792" y="2496312"/>
            <a:ext cx="356616" cy="356616"/>
          </a:xfrm>
          <a:prstGeom prst="rect">
            <a:avLst/>
          </a:prstGeom>
        </p:spPr>
      </p:pic>
      <p:sp>
        <p:nvSpPr>
          <p:cNvPr id="27" name="c5-20"/>
          <p:cNvSpPr txBox="1"/>
          <p:nvPr/>
        </p:nvSpPr>
        <p:spPr>
          <a:xfrm>
            <a:off x="9646920" y="32461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4.9/5</a:t>
            </a:r>
            <a:endParaRPr lang="en-US" sz="4400" dirty="0"/>
          </a:p>
        </p:txBody>
      </p:sp>
      <p:sp>
        <p:nvSpPr>
          <p:cNvPr id="28" name="c5-21"/>
          <p:cNvSpPr txBox="1"/>
          <p:nvPr/>
        </p:nvSpPr>
        <p:spPr>
          <a:xfrm>
            <a:off x="9646920" y="4114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Customer Rating</a:t>
            </a:r>
            <a:endParaRPr lang="en-US" sz="1400" dirty="0"/>
          </a:p>
        </p:txBody>
      </p:sp>
      <p:sp>
        <p:nvSpPr>
          <p:cNvPr id="29" name="c5-22"/>
          <p:cNvSpPr txBox="1"/>
          <p:nvPr/>
        </p:nvSpPr>
        <p:spPr>
          <a:xfrm>
            <a:off x="9646920" y="4572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NPS: 78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4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30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300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300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30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9" grpId="0"/>
      <p:bldP spid="10" grpId="0"/>
      <p:bldP spid="11" grpId="0"/>
      <p:bldP spid="8" grpId="0"/>
      <p:bldP spid="12" grpId="0"/>
      <p:bldP spid="13" grpId="0"/>
      <p:bldP spid="15" grpId="0"/>
      <p:bldP spid="16" grpId="0"/>
      <p:bldP spid="17" grpId="0"/>
      <p:bldP spid="14" grpId="0"/>
      <p:bldP spid="18" grpId="0"/>
      <p:bldP spid="19" grpId="0"/>
      <p:bldP spid="21" grpId="0"/>
      <p:bldP spid="22" grpId="0"/>
      <p:bldP spid="23" grpId="0"/>
      <p:bldP spid="20" grpId="0"/>
      <p:bldP spid="24" grpId="0"/>
      <p:bldP spid="25" grpId="0"/>
      <p:bldP spid="27" grpId="0"/>
      <p:bldP spid="28" grpId="0"/>
      <p:bldP spid="29" grpId="0"/>
      <p:bldP spid="2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1-1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E293B"/>
                </a:solidFill>
              </a:rPr>
              <a:t>Market Opportunity</a:t>
            </a:r>
            <a:endParaRPr lang="en-US" sz="4000" dirty="0"/>
          </a:p>
        </p:txBody>
      </p:sp>
      <p:graphicFrame>
        <p:nvGraphicFramePr>
          <p:cNvPr id="3" name="c2-2" descr=""/>
          <p:cNvGraphicFramePr/>
          <p:nvPr/>
        </p:nvGraphicFramePr>
        <p:xfrm>
          <a:off x="457200" y="1371600"/>
          <a:ext cx="713232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3-3"/>
          <p:cNvSpPr/>
          <p:nvPr/>
        </p:nvSpPr>
        <p:spPr>
          <a:xfrm>
            <a:off x="8046720" y="1828800"/>
            <a:ext cx="3566160" cy="1188720"/>
          </a:xfrm>
          <a:prstGeom prst="roundRect">
            <a:avLst>
              <a:gd name="adj" fmla="val 1153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27000" dist="38100" dir="16200000">
              <a:srgbClr val="000000">
                <a:alpha val="7000"/>
              </a:srgbClr>
            </a:outerShdw>
          </a:effectLst>
        </p:spPr>
      </p:sp>
      <p:sp>
        <p:nvSpPr>
          <p:cNvPr id="5" name="c3-4bg"/>
          <p:cNvSpPr/>
          <p:nvPr/>
        </p:nvSpPr>
        <p:spPr>
          <a:xfrm>
            <a:off x="8321040" y="2057400"/>
            <a:ext cx="502920" cy="502920"/>
          </a:xfrm>
          <a:prstGeom prst="ellipse">
            <a:avLst/>
          </a:prstGeom>
          <a:solidFill>
            <a:srgbClr val="6366F1">
              <a:alpha val="15000"/>
            </a:srgbClr>
          </a:solidFill>
          <a:ln/>
        </p:spPr>
      </p:sp>
      <p:pic>
        <p:nvPicPr>
          <p:cNvPr id="6" name="c3-4ic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1624" y="2157984"/>
            <a:ext cx="301752" cy="301752"/>
          </a:xfrm>
          <a:prstGeom prst="rect">
            <a:avLst/>
          </a:prstGeom>
        </p:spPr>
      </p:pic>
      <p:sp>
        <p:nvSpPr>
          <p:cNvPr id="7" name="c3-5"/>
          <p:cNvSpPr txBox="1"/>
          <p:nvPr/>
        </p:nvSpPr>
        <p:spPr>
          <a:xfrm>
            <a:off x="8961120" y="20116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2.5x market expansion expected by 2027</a:t>
            </a:r>
            <a:endParaRPr lang="en-US" sz="1300" dirty="0"/>
          </a:p>
        </p:txBody>
      </p:sp>
      <p:sp>
        <p:nvSpPr>
          <p:cNvPr id="8" name="c3-6"/>
          <p:cNvSpPr/>
          <p:nvPr/>
        </p:nvSpPr>
        <p:spPr>
          <a:xfrm>
            <a:off x="8046720" y="3383280"/>
            <a:ext cx="3566160" cy="1188720"/>
          </a:xfrm>
          <a:prstGeom prst="roundRect">
            <a:avLst>
              <a:gd name="adj" fmla="val 1153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27000" dist="38100" dir="16200000">
              <a:srgbClr val="000000">
                <a:alpha val="7000"/>
              </a:srgbClr>
            </a:outerShdw>
          </a:effectLst>
        </p:spPr>
      </p:sp>
      <p:sp>
        <p:nvSpPr>
          <p:cNvPr id="9" name="c3-7bg"/>
          <p:cNvSpPr/>
          <p:nvPr/>
        </p:nvSpPr>
        <p:spPr>
          <a:xfrm>
            <a:off x="8321040" y="3611880"/>
            <a:ext cx="502920" cy="502920"/>
          </a:xfrm>
          <a:prstGeom prst="ellipse">
            <a:avLst/>
          </a:prstGeom>
          <a:solidFill>
            <a:srgbClr val="6366F1">
              <a:alpha val="15000"/>
            </a:srgbClr>
          </a:solidFill>
          <a:ln/>
        </p:spPr>
      </p:sp>
      <p:pic>
        <p:nvPicPr>
          <p:cNvPr id="10" name="c3-7ic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624" y="3712464"/>
            <a:ext cx="301752" cy="301752"/>
          </a:xfrm>
          <a:prstGeom prst="rect">
            <a:avLst/>
          </a:prstGeom>
        </p:spPr>
      </p:pic>
      <p:sp>
        <p:nvSpPr>
          <p:cNvPr id="11" name="c3-8"/>
          <p:cNvSpPr txBox="1"/>
          <p:nvPr/>
        </p:nvSpPr>
        <p:spPr>
          <a:xfrm>
            <a:off x="8961120" y="35661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Compound annual growth rate of 35%</a:t>
            </a:r>
            <a:endParaRPr lang="en-US" sz="1300" dirty="0"/>
          </a:p>
        </p:txBody>
      </p:sp>
      <p:sp>
        <p:nvSpPr>
          <p:cNvPr id="12" name="c3-9"/>
          <p:cNvSpPr/>
          <p:nvPr/>
        </p:nvSpPr>
        <p:spPr>
          <a:xfrm>
            <a:off x="8046720" y="4937760"/>
            <a:ext cx="3566160" cy="1188720"/>
          </a:xfrm>
          <a:prstGeom prst="roundRect">
            <a:avLst>
              <a:gd name="adj" fmla="val 1153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27000" dist="38100" dir="16200000">
              <a:srgbClr val="000000">
                <a:alpha val="7000"/>
              </a:srgbClr>
            </a:outerShdw>
          </a:effectLst>
        </p:spPr>
      </p:sp>
      <p:sp>
        <p:nvSpPr>
          <p:cNvPr id="13" name="c3-10bg"/>
          <p:cNvSpPr/>
          <p:nvPr/>
        </p:nvSpPr>
        <p:spPr>
          <a:xfrm>
            <a:off x="8321040" y="5166360"/>
            <a:ext cx="502920" cy="502920"/>
          </a:xfrm>
          <a:prstGeom prst="ellipse">
            <a:avLst/>
          </a:prstGeom>
          <a:solidFill>
            <a:srgbClr val="6366F1">
              <a:alpha val="15000"/>
            </a:srgbClr>
          </a:solidFill>
          <a:ln/>
        </p:spPr>
      </p:sp>
      <p:pic>
        <p:nvPicPr>
          <p:cNvPr id="14" name="c3-10ic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1624" y="5266944"/>
            <a:ext cx="301752" cy="301752"/>
          </a:xfrm>
          <a:prstGeom prst="rect">
            <a:avLst/>
          </a:prstGeom>
        </p:spPr>
      </p:pic>
      <p:sp>
        <p:nvSpPr>
          <p:cNvPr id="15" name="c3-11"/>
          <p:cNvSpPr txBox="1"/>
          <p:nvPr/>
        </p:nvSpPr>
        <p:spPr>
          <a:xfrm>
            <a:off x="8961120" y="51206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Expanding into 12 new regional markets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4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30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30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3" grpId="0">
        <p:bldAsOne/>
      </p:bldGraphic>
      <p:bldP spid="4" grpId="0"/>
      <p:bldP spid="5" grpId="0"/>
      <p:bldP spid="7" grpId="0"/>
      <p:bldP spid="8" grpId="0"/>
      <p:bldP spid="9" grpId="0"/>
      <p:bldP spid="11" grpId="0"/>
      <p:bldP spid="12" grpId="0"/>
      <p:bldP spid="13" grpId="0"/>
      <p:bldP spid="15" grpId="0"/>
      <p:bldP spid="6" grpId="0"/>
      <p:bldP spid="10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1-1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E293B"/>
                </a:solidFill>
              </a:rPr>
              <a:t>Strategic Pillars</a:t>
            </a:r>
            <a:endParaRPr lang="en-US" sz="4000" dirty="0"/>
          </a:p>
        </p:txBody>
      </p:sp>
      <p:sp>
        <p:nvSpPr>
          <p:cNvPr id="3" name="c1-2"/>
          <p:cNvSpPr txBox="1"/>
          <p:nvPr/>
        </p:nvSpPr>
        <p:spPr>
          <a:xfrm>
            <a:off x="73152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Four focus areas powering our next phase of growth</a:t>
            </a:r>
            <a:endParaRPr lang="en-US" sz="1600" dirty="0"/>
          </a:p>
        </p:txBody>
      </p:sp>
      <p:sp>
        <p:nvSpPr>
          <p:cNvPr id="4" name="c2-3"/>
          <p:cNvSpPr/>
          <p:nvPr/>
        </p:nvSpPr>
        <p:spPr>
          <a:xfrm>
            <a:off x="731520" y="1828800"/>
            <a:ext cx="5212080" cy="2148840"/>
          </a:xfrm>
          <a:prstGeom prst="roundRect">
            <a:avLst>
              <a:gd name="adj" fmla="val 638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27000" dist="38100" dir="16200000">
              <a:srgbClr val="000000">
                <a:alpha val="7000"/>
              </a:srgbClr>
            </a:outerShdw>
          </a:effectLst>
        </p:spPr>
      </p:sp>
      <p:sp>
        <p:nvSpPr>
          <p:cNvPr id="5" name="c2-4bg"/>
          <p:cNvSpPr/>
          <p:nvPr/>
        </p:nvSpPr>
        <p:spPr>
          <a:xfrm>
            <a:off x="1051560" y="2148840"/>
            <a:ext cx="640080" cy="640080"/>
          </a:xfrm>
          <a:prstGeom prst="ellipse">
            <a:avLst/>
          </a:prstGeom>
          <a:solidFill>
            <a:srgbClr val="6366F1">
              <a:alpha val="18000"/>
            </a:srgbClr>
          </a:solidFill>
          <a:ln/>
        </p:spPr>
      </p:sp>
      <p:pic>
        <p:nvPicPr>
          <p:cNvPr id="6" name="c2-4ic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2276856"/>
            <a:ext cx="384048" cy="384048"/>
          </a:xfrm>
          <a:prstGeom prst="rect">
            <a:avLst/>
          </a:prstGeom>
        </p:spPr>
      </p:pic>
      <p:sp>
        <p:nvSpPr>
          <p:cNvPr id="7" name="c2-5"/>
          <p:cNvSpPr txBox="1"/>
          <p:nvPr/>
        </p:nvSpPr>
        <p:spPr>
          <a:xfrm>
            <a:off x="1920240" y="217627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93B"/>
                </a:solidFill>
              </a:rPr>
              <a:t>AI-First Products</a:t>
            </a:r>
            <a:endParaRPr lang="en-US" sz="2000" dirty="0"/>
          </a:p>
        </p:txBody>
      </p:sp>
      <p:sp>
        <p:nvSpPr>
          <p:cNvPr id="8" name="c2-6"/>
          <p:cNvSpPr txBox="1"/>
          <p:nvPr/>
        </p:nvSpPr>
        <p:spPr>
          <a:xfrm>
            <a:off x="1051560" y="288036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</a:rPr>
              <a:t>Embed intelligent automation across our product suite to deliver 10x productivity gains</a:t>
            </a:r>
            <a:endParaRPr lang="en-US" sz="1300" dirty="0"/>
          </a:p>
        </p:txBody>
      </p:sp>
      <p:sp>
        <p:nvSpPr>
          <p:cNvPr id="9" name="c2-7"/>
          <p:cNvSpPr/>
          <p:nvPr/>
        </p:nvSpPr>
        <p:spPr>
          <a:xfrm>
            <a:off x="6309360" y="1828800"/>
            <a:ext cx="5212080" cy="2148840"/>
          </a:xfrm>
          <a:prstGeom prst="roundRect">
            <a:avLst>
              <a:gd name="adj" fmla="val 638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27000" dist="38100" dir="16200000">
              <a:srgbClr val="000000">
                <a:alpha val="7000"/>
              </a:srgbClr>
            </a:outerShdw>
          </a:effectLst>
        </p:spPr>
      </p:sp>
      <p:sp>
        <p:nvSpPr>
          <p:cNvPr id="10" name="c2-8bg"/>
          <p:cNvSpPr/>
          <p:nvPr/>
        </p:nvSpPr>
        <p:spPr>
          <a:xfrm>
            <a:off x="6629400" y="2148840"/>
            <a:ext cx="640080" cy="640080"/>
          </a:xfrm>
          <a:prstGeom prst="ellipse">
            <a:avLst/>
          </a:prstGeom>
          <a:solidFill>
            <a:srgbClr val="3B82F6">
              <a:alpha val="18000"/>
            </a:srgbClr>
          </a:solidFill>
          <a:ln/>
        </p:spPr>
      </p:sp>
      <p:pic>
        <p:nvPicPr>
          <p:cNvPr id="11" name="c2-8ic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7416" y="2276856"/>
            <a:ext cx="384048" cy="384048"/>
          </a:xfrm>
          <a:prstGeom prst="rect">
            <a:avLst/>
          </a:prstGeom>
        </p:spPr>
      </p:pic>
      <p:sp>
        <p:nvSpPr>
          <p:cNvPr id="12" name="c2-9"/>
          <p:cNvSpPr txBox="1"/>
          <p:nvPr/>
        </p:nvSpPr>
        <p:spPr>
          <a:xfrm>
            <a:off x="7498080" y="217627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93B"/>
                </a:solidFill>
              </a:rPr>
              <a:t>Global Expansion</a:t>
            </a:r>
            <a:endParaRPr lang="en-US" sz="2000" dirty="0"/>
          </a:p>
        </p:txBody>
      </p:sp>
      <p:sp>
        <p:nvSpPr>
          <p:cNvPr id="13" name="c2-10"/>
          <p:cNvSpPr txBox="1"/>
          <p:nvPr/>
        </p:nvSpPr>
        <p:spPr>
          <a:xfrm>
            <a:off x="6629400" y="288036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</a:rPr>
              <a:t>Enter 12 new markets across APAC and EMEA with localized solutions</a:t>
            </a:r>
            <a:endParaRPr lang="en-US" sz="1300" dirty="0"/>
          </a:p>
        </p:txBody>
      </p:sp>
      <p:sp>
        <p:nvSpPr>
          <p:cNvPr id="14" name="c3-11"/>
          <p:cNvSpPr/>
          <p:nvPr/>
        </p:nvSpPr>
        <p:spPr>
          <a:xfrm>
            <a:off x="731520" y="4251960"/>
            <a:ext cx="5212080" cy="2148840"/>
          </a:xfrm>
          <a:prstGeom prst="roundRect">
            <a:avLst>
              <a:gd name="adj" fmla="val 638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27000" dist="38100" dir="16200000">
              <a:srgbClr val="000000">
                <a:alpha val="7000"/>
              </a:srgbClr>
            </a:outerShdw>
          </a:effectLst>
        </p:spPr>
      </p:sp>
      <p:sp>
        <p:nvSpPr>
          <p:cNvPr id="15" name="c3-12bg"/>
          <p:cNvSpPr/>
          <p:nvPr/>
        </p:nvSpPr>
        <p:spPr>
          <a:xfrm>
            <a:off x="1051560" y="4572000"/>
            <a:ext cx="640080" cy="640080"/>
          </a:xfrm>
          <a:prstGeom prst="ellipse">
            <a:avLst/>
          </a:prstGeom>
          <a:solidFill>
            <a:srgbClr val="EC4899">
              <a:alpha val="18000"/>
            </a:srgbClr>
          </a:solidFill>
          <a:ln/>
        </p:spPr>
      </p:sp>
      <p:pic>
        <p:nvPicPr>
          <p:cNvPr id="16" name="c3-12ic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576" y="4700016"/>
            <a:ext cx="384048" cy="384048"/>
          </a:xfrm>
          <a:prstGeom prst="rect">
            <a:avLst/>
          </a:prstGeom>
        </p:spPr>
      </p:pic>
      <p:sp>
        <p:nvSpPr>
          <p:cNvPr id="17" name="c3-13"/>
          <p:cNvSpPr txBox="1"/>
          <p:nvPr/>
        </p:nvSpPr>
        <p:spPr>
          <a:xfrm>
            <a:off x="1920240" y="459943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93B"/>
                </a:solidFill>
              </a:rPr>
              <a:t>Customer Success</a:t>
            </a:r>
            <a:endParaRPr lang="en-US" sz="2000" dirty="0"/>
          </a:p>
        </p:txBody>
      </p:sp>
      <p:sp>
        <p:nvSpPr>
          <p:cNvPr id="18" name="c3-14"/>
          <p:cNvSpPr txBox="1"/>
          <p:nvPr/>
        </p:nvSpPr>
        <p:spPr>
          <a:xfrm>
            <a:off x="1051560" y="530352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</a:rPr>
              <a:t>Build world-class support programs that drive adoption and reduce churn below 3%</a:t>
            </a:r>
            <a:endParaRPr lang="en-US" sz="1300" dirty="0"/>
          </a:p>
        </p:txBody>
      </p:sp>
      <p:sp>
        <p:nvSpPr>
          <p:cNvPr id="19" name="c3-15"/>
          <p:cNvSpPr/>
          <p:nvPr/>
        </p:nvSpPr>
        <p:spPr>
          <a:xfrm>
            <a:off x="6309360" y="4251960"/>
            <a:ext cx="5212080" cy="2148840"/>
          </a:xfrm>
          <a:prstGeom prst="roundRect">
            <a:avLst>
              <a:gd name="adj" fmla="val 638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27000" dist="38100" dir="16200000">
              <a:srgbClr val="000000">
                <a:alpha val="7000"/>
              </a:srgbClr>
            </a:outerShdw>
          </a:effectLst>
        </p:spPr>
      </p:sp>
      <p:sp>
        <p:nvSpPr>
          <p:cNvPr id="20" name="c3-16bg"/>
          <p:cNvSpPr/>
          <p:nvPr/>
        </p:nvSpPr>
        <p:spPr>
          <a:xfrm>
            <a:off x="6629400" y="4572000"/>
            <a:ext cx="640080" cy="640080"/>
          </a:xfrm>
          <a:prstGeom prst="ellipse">
            <a:avLst/>
          </a:prstGeom>
          <a:solidFill>
            <a:srgbClr val="10B981">
              <a:alpha val="18000"/>
            </a:srgbClr>
          </a:solidFill>
          <a:ln/>
        </p:spPr>
      </p:sp>
      <p:pic>
        <p:nvPicPr>
          <p:cNvPr id="21" name="c3-16ic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7416" y="4700016"/>
            <a:ext cx="384048" cy="384048"/>
          </a:xfrm>
          <a:prstGeom prst="rect">
            <a:avLst/>
          </a:prstGeom>
        </p:spPr>
      </p:pic>
      <p:sp>
        <p:nvSpPr>
          <p:cNvPr id="22" name="c3-17"/>
          <p:cNvSpPr txBox="1"/>
          <p:nvPr/>
        </p:nvSpPr>
        <p:spPr>
          <a:xfrm>
            <a:off x="7498080" y="459943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93B"/>
                </a:solidFill>
              </a:rPr>
              <a:t>Platform Security</a:t>
            </a:r>
            <a:endParaRPr lang="en-US" sz="2000" dirty="0"/>
          </a:p>
        </p:txBody>
      </p:sp>
      <p:sp>
        <p:nvSpPr>
          <p:cNvPr id="23" name="c3-18"/>
          <p:cNvSpPr txBox="1"/>
          <p:nvPr/>
        </p:nvSpPr>
        <p:spPr>
          <a:xfrm>
            <a:off x="6629400" y="530352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</a:rPr>
              <a:t>Achieve SOC 2 Type II and ISO 27001 while maintaining industry-leading uptime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4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30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30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7" grpId="0"/>
      <p:bldP spid="8" grpId="0"/>
      <p:bldP spid="9" grpId="0"/>
      <p:bldP spid="10" grpId="0"/>
      <p:bldP spid="12" grpId="0"/>
      <p:bldP spid="13" grpId="0"/>
      <p:bldP spid="6" grpId="0"/>
      <p:bldP spid="11" grpId="0"/>
      <p:bldP spid="14" grpId="0"/>
      <p:bldP spid="15" grpId="0"/>
      <p:bldP spid="17" grpId="0"/>
      <p:bldP spid="18" grpId="0"/>
      <p:bldP spid="19" grpId="0"/>
      <p:bldP spid="20" grpId="0"/>
      <p:bldP spid="22" grpId="0"/>
      <p:bldP spid="23" grpId="0"/>
      <p:bldP spid="16" grpId="0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1-1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E293B"/>
                </a:solidFill>
              </a:rPr>
              <a:t>Growth Roadmap</a:t>
            </a:r>
            <a:endParaRPr lang="en-US" sz="4000" dirty="0"/>
          </a:p>
        </p:txBody>
      </p:sp>
      <p:sp>
        <p:nvSpPr>
          <p:cNvPr id="3" name="c1-2"/>
          <p:cNvSpPr/>
          <p:nvPr/>
        </p:nvSpPr>
        <p:spPr>
          <a:xfrm>
            <a:off x="1463040" y="2331720"/>
            <a:ext cx="9235440" cy="0"/>
          </a:xfrm>
          <a:prstGeom prst="line">
            <a:avLst/>
          </a:prstGeom>
          <a:noFill/>
          <a:ln w="31750">
            <a:solidFill>
              <a:srgbClr val="E2E8F0"/>
            </a:solidFill>
            <a:prstDash val="solid"/>
          </a:ln>
        </p:spPr>
      </p:sp>
      <p:sp>
        <p:nvSpPr>
          <p:cNvPr id="4" name="c2-3"/>
          <p:cNvSpPr/>
          <p:nvPr/>
        </p:nvSpPr>
        <p:spPr>
          <a:xfrm>
            <a:off x="1417320" y="2057400"/>
            <a:ext cx="502920" cy="5029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5" name="c2-4"/>
          <p:cNvSpPr txBox="1"/>
          <p:nvPr/>
        </p:nvSpPr>
        <p:spPr>
          <a:xfrm>
            <a:off x="640080" y="1417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66F1"/>
                </a:solidFill>
              </a:rPr>
              <a:t>Q1 2027</a:t>
            </a:r>
            <a:endParaRPr lang="en-US" sz="1300" dirty="0"/>
          </a:p>
        </p:txBody>
      </p:sp>
      <p:sp>
        <p:nvSpPr>
          <p:cNvPr id="6" name="c2-5"/>
          <p:cNvSpPr/>
          <p:nvPr/>
        </p:nvSpPr>
        <p:spPr>
          <a:xfrm>
            <a:off x="640080" y="2880360"/>
            <a:ext cx="2651760" cy="3383280"/>
          </a:xfrm>
          <a:prstGeom prst="roundRect">
            <a:avLst>
              <a:gd name="adj" fmla="val 5172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27000" dist="38100" dir="16200000">
              <a:srgbClr val="000000">
                <a:alpha val="7000"/>
              </a:srgbClr>
            </a:outerShdw>
          </a:effectLst>
        </p:spPr>
      </p:sp>
      <p:sp>
        <p:nvSpPr>
          <p:cNvPr id="7" name="c2-6bg"/>
          <p:cNvSpPr/>
          <p:nvPr/>
        </p:nvSpPr>
        <p:spPr>
          <a:xfrm>
            <a:off x="914400" y="3108960"/>
            <a:ext cx="502920" cy="502920"/>
          </a:xfrm>
          <a:prstGeom prst="ellipse">
            <a:avLst/>
          </a:prstGeom>
          <a:solidFill>
            <a:srgbClr val="6366F1">
              <a:alpha val="18000"/>
            </a:srgbClr>
          </a:solidFill>
          <a:ln/>
        </p:spPr>
      </p:sp>
      <p:pic>
        <p:nvPicPr>
          <p:cNvPr id="8" name="c2-6ic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3209544"/>
            <a:ext cx="301752" cy="301752"/>
          </a:xfrm>
          <a:prstGeom prst="rect">
            <a:avLst/>
          </a:prstGeom>
        </p:spPr>
      </p:pic>
      <p:sp>
        <p:nvSpPr>
          <p:cNvPr id="9" name="c2-7"/>
          <p:cNvSpPr txBox="1"/>
          <p:nvPr/>
        </p:nvSpPr>
        <p:spPr>
          <a:xfrm>
            <a:off x="1554480" y="31272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Foundation</a:t>
            </a:r>
            <a:endParaRPr lang="en-US" sz="1800" dirty="0"/>
          </a:p>
        </p:txBody>
      </p:sp>
      <p:sp>
        <p:nvSpPr>
          <p:cNvPr id="10" name="c2-8"/>
          <p:cNvSpPr txBox="1"/>
          <p:nvPr/>
        </p:nvSpPr>
        <p:spPr>
          <a:xfrm>
            <a:off x="914400" y="3794760"/>
            <a:ext cx="2103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</a:rPr>
              <a:t>AI engine v2 launch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</a:rPr>
              <a:t>APAC market entry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</a:rPr>
              <a:t>SOC 2 Type II audit</a:t>
            </a:r>
            <a:endParaRPr lang="en-US" sz="1200" dirty="0"/>
          </a:p>
        </p:txBody>
      </p:sp>
      <p:sp>
        <p:nvSpPr>
          <p:cNvPr id="11" name="c3-9"/>
          <p:cNvSpPr/>
          <p:nvPr/>
        </p:nvSpPr>
        <p:spPr>
          <a:xfrm>
            <a:off x="4297680" y="2057400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2" name="c3-10"/>
          <p:cNvSpPr txBox="1"/>
          <p:nvPr/>
        </p:nvSpPr>
        <p:spPr>
          <a:xfrm>
            <a:off x="3520440" y="1417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5CF6"/>
                </a:solidFill>
              </a:rPr>
              <a:t>Q2 2027</a:t>
            </a:r>
            <a:endParaRPr lang="en-US" sz="1300" dirty="0"/>
          </a:p>
        </p:txBody>
      </p:sp>
      <p:sp>
        <p:nvSpPr>
          <p:cNvPr id="13" name="c3-11"/>
          <p:cNvSpPr/>
          <p:nvPr/>
        </p:nvSpPr>
        <p:spPr>
          <a:xfrm>
            <a:off x="3520440" y="2880360"/>
            <a:ext cx="2651760" cy="3383280"/>
          </a:xfrm>
          <a:prstGeom prst="roundRect">
            <a:avLst>
              <a:gd name="adj" fmla="val 5172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27000" dist="38100" dir="16200000">
              <a:srgbClr val="000000">
                <a:alpha val="7000"/>
              </a:srgbClr>
            </a:outerShdw>
          </a:effectLst>
        </p:spPr>
      </p:sp>
      <p:sp>
        <p:nvSpPr>
          <p:cNvPr id="14" name="c3-12bg"/>
          <p:cNvSpPr/>
          <p:nvPr/>
        </p:nvSpPr>
        <p:spPr>
          <a:xfrm>
            <a:off x="3794760" y="3108960"/>
            <a:ext cx="502920" cy="502920"/>
          </a:xfrm>
          <a:prstGeom prst="ellipse">
            <a:avLst/>
          </a:prstGeom>
          <a:solidFill>
            <a:srgbClr val="8B5CF6">
              <a:alpha val="18000"/>
            </a:srgbClr>
          </a:solidFill>
          <a:ln/>
        </p:spPr>
      </p:sp>
      <p:pic>
        <p:nvPicPr>
          <p:cNvPr id="15" name="c3-12ic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5344" y="3209544"/>
            <a:ext cx="301752" cy="301752"/>
          </a:xfrm>
          <a:prstGeom prst="rect">
            <a:avLst/>
          </a:prstGeom>
        </p:spPr>
      </p:pic>
      <p:sp>
        <p:nvSpPr>
          <p:cNvPr id="16" name="c3-13"/>
          <p:cNvSpPr txBox="1"/>
          <p:nvPr/>
        </p:nvSpPr>
        <p:spPr>
          <a:xfrm>
            <a:off x="4434840" y="31272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Acceleration</a:t>
            </a:r>
            <a:endParaRPr lang="en-US" sz="1800" dirty="0"/>
          </a:p>
        </p:txBody>
      </p:sp>
      <p:sp>
        <p:nvSpPr>
          <p:cNvPr id="17" name="c3-14"/>
          <p:cNvSpPr txBox="1"/>
          <p:nvPr/>
        </p:nvSpPr>
        <p:spPr>
          <a:xfrm>
            <a:off x="3794760" y="3794760"/>
            <a:ext cx="2103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</a:rPr>
              <a:t>Enterprise tier release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</a:rPr>
              <a:t>EMEA partnerships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</a:rPr>
              <a:t>Mobile app launch</a:t>
            </a:r>
            <a:endParaRPr lang="en-US" sz="1200" dirty="0"/>
          </a:p>
        </p:txBody>
      </p:sp>
      <p:sp>
        <p:nvSpPr>
          <p:cNvPr id="18" name="c4-15"/>
          <p:cNvSpPr/>
          <p:nvPr/>
        </p:nvSpPr>
        <p:spPr>
          <a:xfrm>
            <a:off x="7178040" y="205740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9" name="c4-16"/>
          <p:cNvSpPr txBox="1"/>
          <p:nvPr/>
        </p:nvSpPr>
        <p:spPr>
          <a:xfrm>
            <a:off x="6400800" y="1417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Q3 2027</a:t>
            </a:r>
            <a:endParaRPr lang="en-US" sz="1300" dirty="0"/>
          </a:p>
        </p:txBody>
      </p:sp>
      <p:sp>
        <p:nvSpPr>
          <p:cNvPr id="20" name="c4-17"/>
          <p:cNvSpPr/>
          <p:nvPr/>
        </p:nvSpPr>
        <p:spPr>
          <a:xfrm>
            <a:off x="6400800" y="2880360"/>
            <a:ext cx="2651760" cy="3383280"/>
          </a:xfrm>
          <a:prstGeom prst="roundRect">
            <a:avLst>
              <a:gd name="adj" fmla="val 5172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27000" dist="38100" dir="16200000">
              <a:srgbClr val="000000">
                <a:alpha val="7000"/>
              </a:srgbClr>
            </a:outerShdw>
          </a:effectLst>
        </p:spPr>
      </p:sp>
      <p:sp>
        <p:nvSpPr>
          <p:cNvPr id="21" name="c4-18bg"/>
          <p:cNvSpPr/>
          <p:nvPr/>
        </p:nvSpPr>
        <p:spPr>
          <a:xfrm>
            <a:off x="6675120" y="3108960"/>
            <a:ext cx="502920" cy="502920"/>
          </a:xfrm>
          <a:prstGeom prst="ellipse">
            <a:avLst/>
          </a:prstGeom>
          <a:solidFill>
            <a:srgbClr val="10B981">
              <a:alpha val="18000"/>
            </a:srgbClr>
          </a:solidFill>
          <a:ln/>
        </p:spPr>
      </p:sp>
      <p:pic>
        <p:nvPicPr>
          <p:cNvPr id="22" name="c4-18ic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5704" y="3209544"/>
            <a:ext cx="301752" cy="301752"/>
          </a:xfrm>
          <a:prstGeom prst="rect">
            <a:avLst/>
          </a:prstGeom>
        </p:spPr>
      </p:pic>
      <p:sp>
        <p:nvSpPr>
          <p:cNvPr id="23" name="c4-19"/>
          <p:cNvSpPr txBox="1"/>
          <p:nvPr/>
        </p:nvSpPr>
        <p:spPr>
          <a:xfrm>
            <a:off x="7315200" y="31272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Scale</a:t>
            </a:r>
            <a:endParaRPr lang="en-US" sz="1800" dirty="0"/>
          </a:p>
        </p:txBody>
      </p:sp>
      <p:sp>
        <p:nvSpPr>
          <p:cNvPr id="24" name="c4-20"/>
          <p:cNvSpPr txBox="1"/>
          <p:nvPr/>
        </p:nvSpPr>
        <p:spPr>
          <a:xfrm>
            <a:off x="6675120" y="3794760"/>
            <a:ext cx="2103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</a:rPr>
              <a:t>1M+ active users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</a:rPr>
              <a:t>API marketplace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</a:rPr>
              <a:t>ISO 27001 cert</a:t>
            </a:r>
            <a:endParaRPr lang="en-US" sz="1200" dirty="0"/>
          </a:p>
        </p:txBody>
      </p:sp>
      <p:sp>
        <p:nvSpPr>
          <p:cNvPr id="25" name="c5-21"/>
          <p:cNvSpPr/>
          <p:nvPr/>
        </p:nvSpPr>
        <p:spPr>
          <a:xfrm>
            <a:off x="10058400" y="205740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c5-22"/>
          <p:cNvSpPr txBox="1"/>
          <p:nvPr/>
        </p:nvSpPr>
        <p:spPr>
          <a:xfrm>
            <a:off x="9281160" y="1417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Q4 2027</a:t>
            </a:r>
            <a:endParaRPr lang="en-US" sz="1300" dirty="0"/>
          </a:p>
        </p:txBody>
      </p:sp>
      <p:sp>
        <p:nvSpPr>
          <p:cNvPr id="27" name="c5-23"/>
          <p:cNvSpPr/>
          <p:nvPr/>
        </p:nvSpPr>
        <p:spPr>
          <a:xfrm>
            <a:off x="9281160" y="2880360"/>
            <a:ext cx="2651760" cy="3383280"/>
          </a:xfrm>
          <a:prstGeom prst="roundRect">
            <a:avLst>
              <a:gd name="adj" fmla="val 5172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27000" dist="38100" dir="16200000">
              <a:srgbClr val="000000">
                <a:alpha val="7000"/>
              </a:srgbClr>
            </a:outerShdw>
          </a:effectLst>
        </p:spPr>
      </p:sp>
      <p:sp>
        <p:nvSpPr>
          <p:cNvPr id="28" name="c5-24bg"/>
          <p:cNvSpPr/>
          <p:nvPr/>
        </p:nvSpPr>
        <p:spPr>
          <a:xfrm>
            <a:off x="9555480" y="3108960"/>
            <a:ext cx="502920" cy="502920"/>
          </a:xfrm>
          <a:prstGeom prst="ellipse">
            <a:avLst/>
          </a:prstGeom>
          <a:solidFill>
            <a:srgbClr val="F59E0B">
              <a:alpha val="18000"/>
            </a:srgbClr>
          </a:solidFill>
          <a:ln/>
        </p:spPr>
      </p:sp>
      <p:pic>
        <p:nvPicPr>
          <p:cNvPr id="29" name="c5-24ic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064" y="3209544"/>
            <a:ext cx="301752" cy="301752"/>
          </a:xfrm>
          <a:prstGeom prst="rect">
            <a:avLst/>
          </a:prstGeom>
        </p:spPr>
      </p:pic>
      <p:sp>
        <p:nvSpPr>
          <p:cNvPr id="30" name="c5-25"/>
          <p:cNvSpPr txBox="1"/>
          <p:nvPr/>
        </p:nvSpPr>
        <p:spPr>
          <a:xfrm>
            <a:off x="10195560" y="31272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Dominate</a:t>
            </a:r>
            <a:endParaRPr lang="en-US" sz="1800" dirty="0"/>
          </a:p>
        </p:txBody>
      </p:sp>
      <p:sp>
        <p:nvSpPr>
          <p:cNvPr id="31" name="c5-26"/>
          <p:cNvSpPr txBox="1"/>
          <p:nvPr/>
        </p:nvSpPr>
        <p:spPr>
          <a:xfrm>
            <a:off x="9555480" y="3794760"/>
            <a:ext cx="2103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</a:rPr>
              <a:t>$25M ARR target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</a:rPr>
              <a:t>Series C preparation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</a:rPr>
              <a:t>Platform ecosystem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4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30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30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30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30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9" grpId="0"/>
      <p:bldP spid="10" grpId="0"/>
      <p:bldP spid="8" grpId="0"/>
      <p:bldP spid="11" grpId="0"/>
      <p:bldP spid="12" grpId="0"/>
      <p:bldP spid="13" grpId="0"/>
      <p:bldP spid="14" grpId="0"/>
      <p:bldP spid="16" grpId="0"/>
      <p:bldP spid="17" grpId="0"/>
      <p:bldP spid="15" grpId="0"/>
      <p:bldP spid="18" grpId="0"/>
      <p:bldP spid="19" grpId="0"/>
      <p:bldP spid="20" grpId="0"/>
      <p:bldP spid="21" grpId="0"/>
      <p:bldP spid="23" grpId="0"/>
      <p:bldP spid="24" grpId="0"/>
      <p:bldP spid="22" grpId="0"/>
      <p:bldP spid="25" grpId="0"/>
      <p:bldP spid="26" grpId="0"/>
      <p:bldP spid="27" grpId="0"/>
      <p:bldP spid="28" grpId="0"/>
      <p:bldP spid="30" grpId="0"/>
      <p:bldP spid="31" grpId="0"/>
      <p:bldP spid="2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1-1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E293B"/>
                </a:solidFill>
              </a:rPr>
              <a:t>Quarterly Performance</a:t>
            </a:r>
            <a:endParaRPr lang="en-US" sz="4000" dirty="0"/>
          </a:p>
        </p:txBody>
      </p:sp>
      <p:graphicFrame>
        <p:nvGraphicFramePr>
          <p:cNvPr id="3" name="c2-2" descr=""/>
          <p:cNvGraphicFramePr/>
          <p:nvPr/>
        </p:nvGraphicFramePr>
        <p:xfrm>
          <a:off x="457200" y="1371600"/>
          <a:ext cx="713232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3-3"/>
          <p:cNvSpPr/>
          <p:nvPr/>
        </p:nvSpPr>
        <p:spPr>
          <a:xfrm>
            <a:off x="8046720" y="1645920"/>
            <a:ext cx="3566160" cy="13716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27000" dist="38100" dir="16200000">
              <a:srgbClr val="000000">
                <a:alpha val="7000"/>
              </a:srgbClr>
            </a:outerShdw>
          </a:effectLst>
        </p:spPr>
      </p:sp>
      <p:sp>
        <p:nvSpPr>
          <p:cNvPr id="5" name="c3-4bg"/>
          <p:cNvSpPr/>
          <p:nvPr/>
        </p:nvSpPr>
        <p:spPr>
          <a:xfrm>
            <a:off x="8366760" y="1965960"/>
            <a:ext cx="502920" cy="502920"/>
          </a:xfrm>
          <a:prstGeom prst="ellipse">
            <a:avLst/>
          </a:prstGeom>
          <a:solidFill>
            <a:srgbClr val="10B981">
              <a:alpha val="18000"/>
            </a:srgbClr>
          </a:solidFill>
          <a:ln/>
        </p:spPr>
      </p:sp>
      <p:pic>
        <p:nvPicPr>
          <p:cNvPr id="6" name="c3-4ic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7344" y="2066544"/>
            <a:ext cx="301752" cy="301752"/>
          </a:xfrm>
          <a:prstGeom prst="rect">
            <a:avLst/>
          </a:prstGeom>
        </p:spPr>
      </p:pic>
      <p:sp>
        <p:nvSpPr>
          <p:cNvPr id="7" name="c3-5"/>
          <p:cNvSpPr txBox="1"/>
          <p:nvPr/>
        </p:nvSpPr>
        <p:spPr>
          <a:xfrm>
            <a:off x="9006840" y="1783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</a:rPr>
              <a:t>88%</a:t>
            </a:r>
            <a:endParaRPr lang="en-US" sz="3000" dirty="0"/>
          </a:p>
        </p:txBody>
      </p:sp>
      <p:sp>
        <p:nvSpPr>
          <p:cNvPr id="8" name="c3-6"/>
          <p:cNvSpPr txBox="1"/>
          <p:nvPr/>
        </p:nvSpPr>
        <p:spPr>
          <a:xfrm>
            <a:off x="9006840" y="2331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Revenue Growth</a:t>
            </a:r>
            <a:endParaRPr lang="en-US" sz="1300" dirty="0"/>
          </a:p>
        </p:txBody>
      </p:sp>
      <p:sp>
        <p:nvSpPr>
          <p:cNvPr id="9" name="c3-7"/>
          <p:cNvSpPr/>
          <p:nvPr/>
        </p:nvSpPr>
        <p:spPr>
          <a:xfrm>
            <a:off x="8046720" y="3337560"/>
            <a:ext cx="3566160" cy="13716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27000" dist="38100" dir="16200000">
              <a:srgbClr val="000000">
                <a:alpha val="7000"/>
              </a:srgbClr>
            </a:outerShdw>
          </a:effectLst>
        </p:spPr>
      </p:sp>
      <p:sp>
        <p:nvSpPr>
          <p:cNvPr id="10" name="c3-8bg"/>
          <p:cNvSpPr/>
          <p:nvPr/>
        </p:nvSpPr>
        <p:spPr>
          <a:xfrm>
            <a:off x="8366760" y="3657600"/>
            <a:ext cx="502920" cy="502920"/>
          </a:xfrm>
          <a:prstGeom prst="ellipse">
            <a:avLst/>
          </a:prstGeom>
          <a:solidFill>
            <a:srgbClr val="F59E0B">
              <a:alpha val="18000"/>
            </a:srgbClr>
          </a:solidFill>
          <a:ln/>
        </p:spPr>
      </p:sp>
      <p:pic>
        <p:nvPicPr>
          <p:cNvPr id="11" name="c3-8ic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344" y="3758184"/>
            <a:ext cx="301752" cy="301752"/>
          </a:xfrm>
          <a:prstGeom prst="rect">
            <a:avLst/>
          </a:prstGeom>
        </p:spPr>
      </p:pic>
      <p:sp>
        <p:nvSpPr>
          <p:cNvPr id="12" name="c3-9"/>
          <p:cNvSpPr txBox="1"/>
          <p:nvPr/>
        </p:nvSpPr>
        <p:spPr>
          <a:xfrm>
            <a:off x="9006840" y="34747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</a:rPr>
              <a:t>240+</a:t>
            </a:r>
            <a:endParaRPr lang="en-US" sz="3000" dirty="0"/>
          </a:p>
        </p:txBody>
      </p:sp>
      <p:sp>
        <p:nvSpPr>
          <p:cNvPr id="13" name="c3-10"/>
          <p:cNvSpPr txBox="1"/>
          <p:nvPr/>
        </p:nvSpPr>
        <p:spPr>
          <a:xfrm>
            <a:off x="9006840" y="4023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Enterprise Clients</a:t>
            </a:r>
            <a:endParaRPr lang="en-US" sz="1300" dirty="0"/>
          </a:p>
        </p:txBody>
      </p:sp>
      <p:sp>
        <p:nvSpPr>
          <p:cNvPr id="14" name="c3-11"/>
          <p:cNvSpPr/>
          <p:nvPr/>
        </p:nvSpPr>
        <p:spPr>
          <a:xfrm>
            <a:off x="8046720" y="5029200"/>
            <a:ext cx="3566160" cy="13716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27000" dist="38100" dir="16200000">
              <a:srgbClr val="000000">
                <a:alpha val="7000"/>
              </a:srgbClr>
            </a:outerShdw>
          </a:effectLst>
        </p:spPr>
      </p:sp>
      <p:sp>
        <p:nvSpPr>
          <p:cNvPr id="15" name="c3-12bg"/>
          <p:cNvSpPr/>
          <p:nvPr/>
        </p:nvSpPr>
        <p:spPr>
          <a:xfrm>
            <a:off x="8366760" y="5349240"/>
            <a:ext cx="502920" cy="502920"/>
          </a:xfrm>
          <a:prstGeom prst="ellipse">
            <a:avLst/>
          </a:prstGeom>
          <a:solidFill>
            <a:srgbClr val="3B82F6">
              <a:alpha val="18000"/>
            </a:srgbClr>
          </a:solidFill>
          <a:ln/>
        </p:spPr>
      </p:sp>
      <p:pic>
        <p:nvPicPr>
          <p:cNvPr id="16" name="c3-12ic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7344" y="5449824"/>
            <a:ext cx="301752" cy="301752"/>
          </a:xfrm>
          <a:prstGeom prst="rect">
            <a:avLst/>
          </a:prstGeom>
        </p:spPr>
      </p:pic>
      <p:sp>
        <p:nvSpPr>
          <p:cNvPr id="17" name="c3-13"/>
          <p:cNvSpPr txBox="1"/>
          <p:nvPr/>
        </p:nvSpPr>
        <p:spPr>
          <a:xfrm>
            <a:off x="9006840" y="51663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</a:rPr>
              <a:t>12</a:t>
            </a:r>
            <a:endParaRPr lang="en-US" sz="3000" dirty="0"/>
          </a:p>
        </p:txBody>
      </p:sp>
      <p:sp>
        <p:nvSpPr>
          <p:cNvPr id="18" name="c3-14"/>
          <p:cNvSpPr txBox="1"/>
          <p:nvPr/>
        </p:nvSpPr>
        <p:spPr>
          <a:xfrm>
            <a:off x="9006840" y="5715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Countries Served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4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30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30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3" grpId="0">
        <p:bldAsOne/>
      </p:bldGraphic>
      <p:bldP spid="4" grpId="0"/>
      <p:bldP spid="5" grpId="0"/>
      <p:bldP spid="7" grpId="0"/>
      <p:bldP spid="8" grpId="0"/>
      <p:bldP spid="9" grpId="0"/>
      <p:bldP spid="10" grpId="0"/>
      <p:bldP spid="12" grpId="0"/>
      <p:bldP spid="13" grpId="0"/>
      <p:bldP spid="14" grpId="0"/>
      <p:bldP spid="15" grpId="0"/>
      <p:bldP spid="17" grpId="0"/>
      <p:bldP spid="18" grpId="0"/>
      <p:bldP spid="6" grpId="0"/>
      <p:bldP spid="11" grpId="0"/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3657600"/>
            <a:ext cx="3200400" cy="3200400"/>
          </a:xfrm>
          <a:prstGeom prst="ellipse">
            <a:avLst/>
          </a:prstGeom>
          <a:solidFill>
            <a:srgbClr val="6366F1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-457200"/>
            <a:ext cx="2286000" cy="2286000"/>
          </a:xfrm>
          <a:prstGeom prst="ellipse">
            <a:avLst/>
          </a:prstGeom>
          <a:solidFill>
            <a:srgbClr val="8B5CF6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c1-1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Next Steps</a:t>
            </a:r>
            <a:endParaRPr lang="en-US" sz="4000" dirty="0"/>
          </a:p>
        </p:txBody>
      </p:sp>
      <p:sp>
        <p:nvSpPr>
          <p:cNvPr id="5" name="c1-2"/>
          <p:cNvSpPr txBox="1"/>
          <p:nvPr/>
        </p:nvSpPr>
        <p:spPr>
          <a:xfrm>
            <a:off x="731520" y="1143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Immediate actions to drive our strategy forward</a:t>
            </a:r>
            <a:endParaRPr lang="en-US" sz="1600" dirty="0"/>
          </a:p>
        </p:txBody>
      </p:sp>
      <p:sp>
        <p:nvSpPr>
          <p:cNvPr id="6" name="c2-3"/>
          <p:cNvSpPr/>
          <p:nvPr/>
        </p:nvSpPr>
        <p:spPr>
          <a:xfrm>
            <a:off x="731520" y="1920240"/>
            <a:ext cx="10058400" cy="1005840"/>
          </a:xfrm>
          <a:prstGeom prst="roundRect">
            <a:avLst>
              <a:gd name="adj" fmla="val 1363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16200000">
              <a:srgbClr val="000000">
                <a:alpha val="20000"/>
              </a:srgbClr>
            </a:outerShdw>
          </a:effectLst>
        </p:spPr>
      </p:sp>
      <p:sp>
        <p:nvSpPr>
          <p:cNvPr id="7" name="c2-4"/>
          <p:cNvSpPr/>
          <p:nvPr/>
        </p:nvSpPr>
        <p:spPr>
          <a:xfrm>
            <a:off x="1005840" y="2103120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6366F1">
              <a:alpha val="25000"/>
            </a:srgbClr>
          </a:solidFill>
          <a:ln/>
        </p:spPr>
      </p:sp>
      <p:sp>
        <p:nvSpPr>
          <p:cNvPr id="8" name="c2-5"/>
          <p:cNvSpPr txBox="1"/>
          <p:nvPr/>
        </p:nvSpPr>
        <p:spPr>
          <a:xfrm>
            <a:off x="1005840" y="2103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366F1"/>
                </a:solidFill>
              </a:rPr>
              <a:t>01</a:t>
            </a:r>
            <a:endParaRPr lang="en-US" sz="1800" dirty="0"/>
          </a:p>
        </p:txBody>
      </p:sp>
      <p:pic>
        <p:nvPicPr>
          <p:cNvPr id="9" name="c2-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0240" y="2148840"/>
            <a:ext cx="457200" cy="457200"/>
          </a:xfrm>
          <a:prstGeom prst="rect">
            <a:avLst/>
          </a:prstGeom>
        </p:spPr>
      </p:pic>
      <p:sp>
        <p:nvSpPr>
          <p:cNvPr id="10" name="c2-7"/>
          <p:cNvSpPr txBox="1"/>
          <p:nvPr/>
        </p:nvSpPr>
        <p:spPr>
          <a:xfrm>
            <a:off x="2606040" y="202996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Finalize AI Engine Architecture</a:t>
            </a:r>
            <a:endParaRPr lang="en-US" sz="1600" dirty="0"/>
          </a:p>
        </p:txBody>
      </p:sp>
      <p:sp>
        <p:nvSpPr>
          <p:cNvPr id="11" name="c2-8"/>
          <p:cNvSpPr txBox="1"/>
          <p:nvPr/>
        </p:nvSpPr>
        <p:spPr>
          <a:xfrm>
            <a:off x="2606040" y="24231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Complete technical design review and allocate engineering resources for Q1 sprint</a:t>
            </a:r>
            <a:endParaRPr lang="en-US" sz="1200" dirty="0"/>
          </a:p>
        </p:txBody>
      </p:sp>
      <p:sp>
        <p:nvSpPr>
          <p:cNvPr id="12" name="c3-9"/>
          <p:cNvSpPr/>
          <p:nvPr/>
        </p:nvSpPr>
        <p:spPr>
          <a:xfrm>
            <a:off x="731520" y="3108960"/>
            <a:ext cx="10058400" cy="1005840"/>
          </a:xfrm>
          <a:prstGeom prst="roundRect">
            <a:avLst>
              <a:gd name="adj" fmla="val 1363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16200000">
              <a:srgbClr val="000000">
                <a:alpha val="20000"/>
              </a:srgbClr>
            </a:outerShdw>
          </a:effectLst>
        </p:spPr>
      </p:sp>
      <p:sp>
        <p:nvSpPr>
          <p:cNvPr id="13" name="c3-10"/>
          <p:cNvSpPr/>
          <p:nvPr/>
        </p:nvSpPr>
        <p:spPr>
          <a:xfrm>
            <a:off x="1005840" y="3291840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3B82F6">
              <a:alpha val="25000"/>
            </a:srgbClr>
          </a:solidFill>
          <a:ln/>
        </p:spPr>
      </p:sp>
      <p:sp>
        <p:nvSpPr>
          <p:cNvPr id="14" name="c3-11"/>
          <p:cNvSpPr txBox="1"/>
          <p:nvPr/>
        </p:nvSpPr>
        <p:spPr>
          <a:xfrm>
            <a:off x="1005840" y="3291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</a:rPr>
              <a:t>02</a:t>
            </a:r>
            <a:endParaRPr lang="en-US" sz="1800" dirty="0"/>
          </a:p>
        </p:txBody>
      </p:sp>
      <p:pic>
        <p:nvPicPr>
          <p:cNvPr id="15" name="c3-1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3337560"/>
            <a:ext cx="457200" cy="457200"/>
          </a:xfrm>
          <a:prstGeom prst="rect">
            <a:avLst/>
          </a:prstGeom>
        </p:spPr>
      </p:pic>
      <p:sp>
        <p:nvSpPr>
          <p:cNvPr id="16" name="c3-13"/>
          <p:cNvSpPr txBox="1"/>
          <p:nvPr/>
        </p:nvSpPr>
        <p:spPr>
          <a:xfrm>
            <a:off x="2606040" y="321868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Launch APAC Go-To-Market</a:t>
            </a:r>
            <a:endParaRPr lang="en-US" sz="1600" dirty="0"/>
          </a:p>
        </p:txBody>
      </p:sp>
      <p:sp>
        <p:nvSpPr>
          <p:cNvPr id="17" name="c3-14"/>
          <p:cNvSpPr txBox="1"/>
          <p:nvPr/>
        </p:nvSpPr>
        <p:spPr>
          <a:xfrm>
            <a:off x="2606040" y="36118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Hire regional leads in Singapore and Tokyo, finalize partnership agreements</a:t>
            </a:r>
            <a:endParaRPr lang="en-US" sz="1200" dirty="0"/>
          </a:p>
        </p:txBody>
      </p:sp>
      <p:sp>
        <p:nvSpPr>
          <p:cNvPr id="18" name="c4-15"/>
          <p:cNvSpPr/>
          <p:nvPr/>
        </p:nvSpPr>
        <p:spPr>
          <a:xfrm>
            <a:off x="731520" y="4297680"/>
            <a:ext cx="10058400" cy="1005840"/>
          </a:xfrm>
          <a:prstGeom prst="roundRect">
            <a:avLst>
              <a:gd name="adj" fmla="val 1363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16200000">
              <a:srgbClr val="000000">
                <a:alpha val="20000"/>
              </a:srgbClr>
            </a:outerShdw>
          </a:effectLst>
        </p:spPr>
      </p:sp>
      <p:sp>
        <p:nvSpPr>
          <p:cNvPr id="19" name="c4-16"/>
          <p:cNvSpPr/>
          <p:nvPr/>
        </p:nvSpPr>
        <p:spPr>
          <a:xfrm>
            <a:off x="1005840" y="4480560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EC4899">
              <a:alpha val="25000"/>
            </a:srgbClr>
          </a:solidFill>
          <a:ln/>
        </p:spPr>
      </p:sp>
      <p:sp>
        <p:nvSpPr>
          <p:cNvPr id="20" name="c4-17"/>
          <p:cNvSpPr txBox="1"/>
          <p:nvPr/>
        </p:nvSpPr>
        <p:spPr>
          <a:xfrm>
            <a:off x="1005840" y="4480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C4899"/>
                </a:solidFill>
              </a:rPr>
              <a:t>03</a:t>
            </a:r>
            <a:endParaRPr lang="en-US" sz="1800" dirty="0"/>
          </a:p>
        </p:txBody>
      </p:sp>
      <p:pic>
        <p:nvPicPr>
          <p:cNvPr id="21" name="c4-18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26280"/>
            <a:ext cx="457200" cy="457200"/>
          </a:xfrm>
          <a:prstGeom prst="rect">
            <a:avLst/>
          </a:prstGeom>
        </p:spPr>
      </p:pic>
      <p:sp>
        <p:nvSpPr>
          <p:cNvPr id="22" name="c4-19"/>
          <p:cNvSpPr txBox="1"/>
          <p:nvPr/>
        </p:nvSpPr>
        <p:spPr>
          <a:xfrm>
            <a:off x="2606040" y="440740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Scale Customer Success Team</a:t>
            </a:r>
            <a:endParaRPr lang="en-US" sz="1600" dirty="0"/>
          </a:p>
        </p:txBody>
      </p:sp>
      <p:sp>
        <p:nvSpPr>
          <p:cNvPr id="23" name="c4-20"/>
          <p:cNvSpPr txBox="1"/>
          <p:nvPr/>
        </p:nvSpPr>
        <p:spPr>
          <a:xfrm>
            <a:off x="2606040" y="48006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Recruit 15 customer success managers and deploy automated onboarding</a:t>
            </a:r>
            <a:endParaRPr lang="en-US" sz="1200" dirty="0"/>
          </a:p>
        </p:txBody>
      </p:sp>
      <p:sp>
        <p:nvSpPr>
          <p:cNvPr id="24" name="c5-21"/>
          <p:cNvSpPr/>
          <p:nvPr/>
        </p:nvSpPr>
        <p:spPr>
          <a:xfrm>
            <a:off x="731520" y="5486400"/>
            <a:ext cx="10058400" cy="1005840"/>
          </a:xfrm>
          <a:prstGeom prst="roundRect">
            <a:avLst>
              <a:gd name="adj" fmla="val 1363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16200000">
              <a:srgbClr val="000000">
                <a:alpha val="20000"/>
              </a:srgbClr>
            </a:outerShdw>
          </a:effectLst>
        </p:spPr>
      </p:sp>
      <p:sp>
        <p:nvSpPr>
          <p:cNvPr id="25" name="c5-22"/>
          <p:cNvSpPr/>
          <p:nvPr/>
        </p:nvSpPr>
        <p:spPr>
          <a:xfrm>
            <a:off x="1005840" y="5669280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F59E0B">
              <a:alpha val="25000"/>
            </a:srgbClr>
          </a:solidFill>
          <a:ln/>
        </p:spPr>
      </p:sp>
      <p:sp>
        <p:nvSpPr>
          <p:cNvPr id="26" name="c5-23"/>
          <p:cNvSpPr txBox="1"/>
          <p:nvPr/>
        </p:nvSpPr>
        <p:spPr>
          <a:xfrm>
            <a:off x="1005840" y="5669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04</a:t>
            </a:r>
            <a:endParaRPr lang="en-US" sz="1800" dirty="0"/>
          </a:p>
        </p:txBody>
      </p:sp>
      <p:pic>
        <p:nvPicPr>
          <p:cNvPr id="27" name="c5-2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0240" y="5715000"/>
            <a:ext cx="457200" cy="457200"/>
          </a:xfrm>
          <a:prstGeom prst="rect">
            <a:avLst/>
          </a:prstGeom>
        </p:spPr>
      </p:pic>
      <p:sp>
        <p:nvSpPr>
          <p:cNvPr id="28" name="c5-25"/>
          <p:cNvSpPr txBox="1"/>
          <p:nvPr/>
        </p:nvSpPr>
        <p:spPr>
          <a:xfrm>
            <a:off x="2606040" y="559612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Prepare Series C Materials</a:t>
            </a:r>
            <a:endParaRPr lang="en-US" sz="1600" dirty="0"/>
          </a:p>
        </p:txBody>
      </p:sp>
      <p:sp>
        <p:nvSpPr>
          <p:cNvPr id="29" name="c5-26"/>
          <p:cNvSpPr txBox="1"/>
          <p:nvPr/>
        </p:nvSpPr>
        <p:spPr>
          <a:xfrm>
            <a:off x="2606040" y="59893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Engage investment bankers and prepare data room with growth projections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4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30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300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300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30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10" grpId="0"/>
      <p:bldP spid="11" grpId="0"/>
      <p:bldP spid="9" grpId="0"/>
      <p:bldP spid="12" grpId="0"/>
      <p:bldP spid="13" grpId="0"/>
      <p:bldP spid="14" grpId="0"/>
      <p:bldP spid="16" grpId="0"/>
      <p:bldP spid="17" grpId="0"/>
      <p:bldP spid="15" grpId="0"/>
      <p:bldP spid="18" grpId="0"/>
      <p:bldP spid="19" grpId="0"/>
      <p:bldP spid="20" grpId="0"/>
      <p:bldP spid="22" grpId="0"/>
      <p:bldP spid="23" grpId="0"/>
      <p:bldP spid="21" grpId="0"/>
      <p:bldP spid="24" grpId="0"/>
      <p:bldP spid="25" grpId="0"/>
      <p:bldP spid="26" grpId="0"/>
      <p:bldP spid="28" grpId="0"/>
      <p:bldP spid="29" grpId="0"/>
      <p:bldP spid="2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029200" cy="5029200"/>
          </a:xfrm>
          <a:prstGeom prst="ellipse">
            <a:avLst/>
          </a:prstGeom>
          <a:solidFill>
            <a:srgbClr val="6366F1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3657600"/>
            <a:ext cx="4114800" cy="4114800"/>
          </a:xfrm>
          <a:prstGeom prst="ellipse">
            <a:avLst/>
          </a:prstGeom>
          <a:solidFill>
            <a:srgbClr val="8B5CF6">
              <a:alpha val="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0" y="-1371600"/>
            <a:ext cx="2560320" cy="2560320"/>
          </a:xfrm>
          <a:prstGeom prst="ellipse">
            <a:avLst/>
          </a:prstGeom>
          <a:solidFill>
            <a:srgbClr val="F59E0B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371600" y="5486400"/>
            <a:ext cx="2286000" cy="2286000"/>
          </a:xfrm>
          <a:prstGeom prst="ellipse">
            <a:avLst/>
          </a:prstGeom>
          <a:solidFill>
            <a:srgbClr val="EC4899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-1828800"/>
            <a:ext cx="2286000" cy="2286000"/>
          </a:xfrm>
          <a:prstGeom prst="ellipse">
            <a:avLst/>
          </a:prstGeom>
          <a:solidFill>
            <a:srgbClr val="3B82F6">
              <a:alpha val="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c1-1"/>
          <p:cNvSpPr txBox="1"/>
          <p:nvPr/>
        </p:nvSpPr>
        <p:spPr>
          <a:xfrm>
            <a:off x="731520" y="201168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</a:rPr>
              <a:t>Thank You</a:t>
            </a:r>
            <a:endParaRPr lang="en-US" sz="6400" dirty="0"/>
          </a:p>
        </p:txBody>
      </p:sp>
      <p:sp>
        <p:nvSpPr>
          <p:cNvPr id="8" name="c1-2"/>
          <p:cNvSpPr txBox="1"/>
          <p:nvPr/>
        </p:nvSpPr>
        <p:spPr>
          <a:xfrm>
            <a:off x="731520" y="32918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94A3B8"/>
                </a:solidFill>
              </a:rPr>
              <a:t>Let's build the future together</a:t>
            </a:r>
            <a:endParaRPr lang="en-US" sz="2000" dirty="0"/>
          </a:p>
        </p:txBody>
      </p:sp>
      <p:sp>
        <p:nvSpPr>
          <p:cNvPr id="9" name="c2-3bg"/>
          <p:cNvSpPr/>
          <p:nvPr/>
        </p:nvSpPr>
        <p:spPr>
          <a:xfrm>
            <a:off x="4114800" y="4754880"/>
            <a:ext cx="365760" cy="36576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10" name="c2-3ic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87952" y="4828032"/>
            <a:ext cx="219456" cy="219456"/>
          </a:xfrm>
          <a:prstGeom prst="rect">
            <a:avLst/>
          </a:prstGeom>
        </p:spPr>
      </p:pic>
      <p:sp>
        <p:nvSpPr>
          <p:cNvPr id="11" name="c2-4"/>
          <p:cNvSpPr txBox="1"/>
          <p:nvPr/>
        </p:nvSpPr>
        <p:spPr>
          <a:xfrm>
            <a:off x="4617720" y="4754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strategy@elevate.io</a:t>
            </a:r>
            <a:endParaRPr lang="en-US" sz="1300" dirty="0"/>
          </a:p>
        </p:txBody>
      </p:sp>
      <p:sp>
        <p:nvSpPr>
          <p:cNvPr id="12" name="c2-5bg"/>
          <p:cNvSpPr/>
          <p:nvPr/>
        </p:nvSpPr>
        <p:spPr>
          <a:xfrm>
            <a:off x="6858000" y="4754880"/>
            <a:ext cx="365760" cy="365760"/>
          </a:xfrm>
          <a:prstGeom prst="ellipse">
            <a:avLst/>
          </a:prstGeom>
          <a:solidFill>
            <a:srgbClr val="3B82F6">
              <a:alpha val="30000"/>
            </a:srgbClr>
          </a:solidFill>
          <a:ln/>
        </p:spPr>
      </p:sp>
      <p:pic>
        <p:nvPicPr>
          <p:cNvPr id="13" name="c2-5ic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1152" y="4828032"/>
            <a:ext cx="219456" cy="219456"/>
          </a:xfrm>
          <a:prstGeom prst="rect">
            <a:avLst/>
          </a:prstGeom>
        </p:spPr>
      </p:pic>
      <p:sp>
        <p:nvSpPr>
          <p:cNvPr id="14" name="c2-6"/>
          <p:cNvSpPr txBox="1"/>
          <p:nvPr/>
        </p:nvSpPr>
        <p:spPr>
          <a:xfrm>
            <a:off x="7360920" y="4754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elevate.io/vision2027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4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30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1" grpId="0"/>
      <p:bldP spid="12" grpId="0"/>
      <p:bldP spid="14" grpId="0"/>
      <p:bldP spid="10" grpId="0"/>
      <p:bldP spid="13" grpId="0"/>
    </p:bldLst>
  </p:timing>
</p:sld>
</file>

<file path=ppt/theme/theme1.xml><?xml version="1.0" encoding="utf-8"?>
<a:theme xmlns:a="http://schemas.openxmlformats.org/drawingml/2006/main" name="Aurora Vision">
  <a:themeElements>
    <a:clrScheme name="Aurora Vision">
      <a:dk1>
        <a:srgbClr val="1E293B"/>
      </a:dk1>
      <a:lt1>
        <a:srgbClr val="FFFFFF"/>
      </a:lt1>
      <a:dk2>
        <a:srgbClr val="64748B"/>
      </a:dk2>
      <a:lt2>
        <a:srgbClr val="F1F5F9"/>
      </a:lt2>
      <a:accent1>
        <a:srgbClr val="6366F1"/>
      </a:accent1>
      <a:accent2>
        <a:srgbClr val="8B5CF6"/>
      </a:accent2>
      <a:accent3>
        <a:srgbClr val="F59E0B"/>
      </a:accent3>
      <a:accent4>
        <a:srgbClr val="10B981"/>
      </a:accent4>
      <a:accent5>
        <a:srgbClr val="EC4899"/>
      </a:accent5>
      <a:accent6>
        <a:srgbClr val="3B82F6"/>
      </a:accent6>
      <a:hlink>
        <a:srgbClr val="6366F1"/>
      </a:hlink>
      <a:folHlink>
        <a:srgbClr val="8B5CF6"/>
      </a:folHlink>
    </a:clrScheme>
    <a:fontScheme name="Aurora Visi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Elevate Inc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Elevate - Strategic Vision &amp; Growth Plan 2027</dc:title>
  <dc:subject>Strategic Vision 2027</dc:subject>
  <dc:creator>Strategic Team</dc:creator>
  <cp:lastModifiedBy>Strategic Team</cp:lastModifiedBy>
  <cp:revision>1</cp:revision>
  <dcterms:created xsi:type="dcterms:W3CDTF">2026-10-25T17:19:55Z</dcterms:created>
  <dcterms:modified xsi:type="dcterms:W3CDTF">2026-10-25T17:19:55Z</dcterms:modified>
</cp:coreProperties>
</file>