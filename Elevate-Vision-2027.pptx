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4a08fa21-c996-7ea3-2372-0aac8417e300}">
          <p14:sldIdLst>
            <p14:sldId id="256"/>
          </p14:sldIdLst>
        </p14:section>
        <p14:section name="Vision" id="{3cb5208f-1db1-4536-400d-8f76f1b71155}">
          <p14:sldIdLst>
            <p14:sldId id="257"/>
          </p14:sldIdLst>
        </p14:section>
        <p14:section name="Metrics" id="{d2ce6c68-e475-e397-5f1d-022d33018ab5}">
          <p14:sldIdLst>
            <p14:sldId id="258"/>
          </p14:sldIdLst>
        </p14:section>
        <p14:section name="Market" id="{4c9a1dde-83e4-de8e-db8d-8be19fe56444}">
          <p14:sldIdLst>
            <p14:sldId id="259"/>
          </p14:sldIdLst>
        </p14:section>
        <p14:section name="Strategy" id="{be67cab8-3a62-961b-50a1-15bf6f33d40f}">
          <p14:sldIdLst>
            <p14:sldId id="260"/>
          </p14:sldIdLst>
        </p14:section>
        <p14:section name="Roadmap" id="{244a3965-c45e-6c90-1b85-3a7bef2ee4b1}">
          <p14:sldIdLst>
            <p14:sldId id="261"/>
          </p14:sldIdLst>
        </p14:section>
        <p14:section name="Results" id="{24c9f141-2fef-4a9a-dda4-720a8b007c93}">
          <p14:sldIdLst>
            <p14:sldId id="262"/>
          </p14:sldIdLst>
        </p14:section>
        <p14:section name="Next Steps" id="{4822d462-b948-eb4c-4367-8b1d7b25d9a0}">
          <p14:sldIdLst>
            <p14:sldId id="263"/>
          </p14:sldIdLst>
        </p14:section>
        <p14:section name="Close" id="{ec45520c-a332-f379-8771-7548dd1b7bff}">
          <p14:sldIdLst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 Market ($B)</c:v>
                </c:pt>
              </c:strCache>
            </c:strRef>
          </c:tx>
          <c:spPr>
            <a:solidFill>
              <a:srgbClr val="6366F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E293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2024</c:v>
                  </c:pt>
                  <c:pt idx="1">
                    <c:v>2025</c:v>
                  </c:pt>
                  <c:pt idx="2">
                    <c:v>2026</c:v>
                  </c:pt>
                  <c:pt idx="3">
                    <c:v>2027E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42</c:v>
                </c:pt>
                <c:pt idx="1">
                  <c:v>58</c:v>
                </c:pt>
                <c:pt idx="2">
                  <c:v>78</c:v>
                </c:pt>
                <c:pt idx="3">
                  <c:v>105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Our Revenue ($M)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E293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2024</c:v>
                  </c:pt>
                  <c:pt idx="1">
                    <c:v>2025</c:v>
                  </c:pt>
                  <c:pt idx="2">
                    <c:v>2026</c:v>
                  </c:pt>
                  <c:pt idx="3">
                    <c:v>2027E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</c:v>
                </c:pt>
                <c:pt idx="1">
                  <c:v>14</c:v>
                </c:pt>
                <c:pt idx="2">
                  <c:v>19</c:v>
                </c:pt>
                <c:pt idx="3">
                  <c:v>25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E293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0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4A3B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64748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($M)</c:v>
                </c:pt>
              </c:strCache>
            </c:strRef>
          </c:tx>
          <c:spPr>
            <a:solidFill>
              <a:srgbClr val="6366F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E293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  <c:pt idx="3">
                    <c:v>Q4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4.2</c:v>
                </c:pt>
                <c:pt idx="1">
                  <c:v>5.8</c:v>
                </c:pt>
                <c:pt idx="2">
                  <c:v>6.9</c:v>
                </c:pt>
                <c:pt idx="3">
                  <c:v>7.9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E293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2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4A3B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 - Elevate Strategic Vision &amp; Growth Plan 2027.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Vision slide: Innovate, Scale, Impact.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metrics: $24.8M revenue, 1.2M users, 98.7% uptime, 4.9/5 rating.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Market opportunity: TAM growing from $42B to $105B by 2027.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Strategy pillars: AI-First, Global Expansion, Customer Success, Platform Security.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Roadmap: Foundation, Acceleration, Scale, Dominate through 2027.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Quarterly revenue and key highlights.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Next steps: AI architecture, APAC launch, team scaling, Series C prep.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 slide with contact information.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4-1.png"/><Relationship Id="rId3" Type="http://schemas.openxmlformats.org/officeDocument/2006/relationships/image" Target="../media/image-4-2.png"/><Relationship Id="rId4" Type="http://schemas.openxmlformats.org/officeDocument/2006/relationships/image" Target="../media/image-4-3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371600"/>
            <a:ext cx="4114800" cy="4114800"/>
          </a:xfrm>
          <a:prstGeom prst="ellipse">
            <a:avLst/>
          </a:prstGeom>
          <a:solidFill>
            <a:srgbClr val="6366F1">
              <a:alpha val="1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0" y="4114800"/>
            <a:ext cx="3657600" cy="3657600"/>
          </a:xfrm>
          <a:prstGeom prst="ellipse">
            <a:avLst/>
          </a:prstGeom>
          <a:solidFill>
            <a:srgbClr val="8B5CF6">
              <a:alpha val="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972800" y="-914400"/>
            <a:ext cx="2286000" cy="2286000"/>
          </a:xfrm>
          <a:prstGeom prst="ellipse">
            <a:avLst/>
          </a:prstGeom>
          <a:solidFill>
            <a:srgbClr val="EC4899">
              <a:alpha val="7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-914400" y="5029200"/>
            <a:ext cx="2286000" cy="2286000"/>
          </a:xfrm>
          <a:prstGeom prst="ellipse">
            <a:avLst/>
          </a:prstGeom>
          <a:solidFill>
            <a:srgbClr val="3B82F6">
              <a:alpha val="7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82880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b="1" spc="800" kern="0" dirty="0">
                <a:solidFill>
                  <a:srgbClr val="FFFFFF"/>
                </a:solidFill>
              </a:rPr>
              <a:t>ELEVATE</a:t>
            </a:r>
            <a:endParaRPr lang="en-US" sz="7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2004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94A3B8"/>
                </a:solidFill>
              </a:rPr>
              <a:t>Strategic Vision &amp; Growth Plan 2027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41148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94A3B8"/>
                </a:solidFill>
              </a:rPr>
              <a:t>Q4 Strategic Review  |  October 2027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5486400"/>
            <a:ext cx="411480" cy="411480"/>
          </a:xfrm>
          <a:prstGeom prst="ellipse">
            <a:avLst/>
          </a:prstGeom>
          <a:solidFill>
            <a:srgbClr val="6366F1">
              <a:alpha val="30000"/>
            </a:srgbClr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" y="5568696"/>
            <a:ext cx="246888" cy="24688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280160" y="55046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Prepared for Leadership Team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E293B"/>
                </a:solidFill>
              </a:rPr>
              <a:t>Our Vision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2801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4748B"/>
                </a:solidFill>
              </a:rPr>
              <a:t>Empowering organizations to achieve extraordinary outcomes through innovation, technology, and human-centered design.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2468880"/>
            <a:ext cx="3383280" cy="3566160"/>
          </a:xfrm>
          <a:prstGeom prst="roundRect">
            <a:avLst>
              <a:gd name="adj" fmla="val 4054"/>
            </a:avLst>
          </a:prstGeom>
          <a:solidFill>
            <a:srgbClr val="F1F5F9"/>
          </a:solidFill>
          <a:ln/>
          <a:effectLst>
            <a:outerShdw sx="100000" sy="100000" kx="0" ky="0" algn="bl" rotWithShape="0" blurRad="127000" dist="38100" dir="16200000">
              <a:srgbClr val="00000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51560" y="2880360"/>
            <a:ext cx="731520" cy="731520"/>
          </a:xfrm>
          <a:prstGeom prst="ellipse">
            <a:avLst/>
          </a:prstGeom>
          <a:solidFill>
            <a:srgbClr val="F59E0B">
              <a:alpha val="18000"/>
            </a:srgbClr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7864" y="3026664"/>
            <a:ext cx="438912" cy="4389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51560" y="38862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293B"/>
                </a:solidFill>
              </a:rPr>
              <a:t>Innovate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1051560" y="44348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64748B"/>
                </a:solidFill>
              </a:rPr>
              <a:t>Push boundaries with cutting-edge solutions that redefine industry standards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480560" y="2468880"/>
            <a:ext cx="3383280" cy="3566160"/>
          </a:xfrm>
          <a:prstGeom prst="roundRect">
            <a:avLst>
              <a:gd name="adj" fmla="val 4054"/>
            </a:avLst>
          </a:prstGeom>
          <a:solidFill>
            <a:srgbClr val="F1F5F9"/>
          </a:solidFill>
          <a:ln/>
          <a:effectLst>
            <a:outerShdw sx="100000" sy="100000" kx="0" ky="0" algn="bl" rotWithShape="0" blurRad="127000" dist="38100" dir="16200000">
              <a:srgbClr val="000000">
                <a:alpha val="7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800600" y="2880360"/>
            <a:ext cx="731520" cy="731520"/>
          </a:xfrm>
          <a:prstGeom prst="ellipse">
            <a:avLst/>
          </a:prstGeom>
          <a:solidFill>
            <a:srgbClr val="10B981">
              <a:alpha val="18000"/>
            </a:srgbClr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6904" y="3026664"/>
            <a:ext cx="438912" cy="43891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800600" y="38862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293B"/>
                </a:solidFill>
              </a:rPr>
              <a:t>Scale</a:t>
            </a:r>
            <a:endParaRPr lang="en-US" sz="2400" dirty="0"/>
          </a:p>
        </p:txBody>
      </p:sp>
      <p:sp>
        <p:nvSpPr>
          <p:cNvPr id="13" name="Text 9"/>
          <p:cNvSpPr txBox="1"/>
          <p:nvPr/>
        </p:nvSpPr>
        <p:spPr>
          <a:xfrm>
            <a:off x="4800600" y="44348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64748B"/>
                </a:solidFill>
              </a:rPr>
              <a:t>Build systems and teams that grow sustainably across global markets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229600" y="2468880"/>
            <a:ext cx="3383280" cy="3566160"/>
          </a:xfrm>
          <a:prstGeom prst="roundRect">
            <a:avLst>
              <a:gd name="adj" fmla="val 4054"/>
            </a:avLst>
          </a:prstGeom>
          <a:solidFill>
            <a:srgbClr val="F1F5F9"/>
          </a:solidFill>
          <a:ln/>
          <a:effectLst>
            <a:outerShdw sx="100000" sy="100000" kx="0" ky="0" algn="bl" rotWithShape="0" blurRad="127000" dist="38100" dir="16200000">
              <a:srgbClr val="000000">
                <a:alpha val="7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549640" y="2880360"/>
            <a:ext cx="731520" cy="731520"/>
          </a:xfrm>
          <a:prstGeom prst="ellipse">
            <a:avLst/>
          </a:prstGeom>
          <a:solidFill>
            <a:srgbClr val="EC4899">
              <a:alpha val="18000"/>
            </a:srgbClr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5944" y="3026664"/>
            <a:ext cx="438912" cy="43891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549640" y="38862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293B"/>
                </a:solidFill>
              </a:rPr>
              <a:t>Impact</a:t>
            </a:r>
            <a:endParaRPr lang="en-US" sz="2400" dirty="0"/>
          </a:p>
        </p:txBody>
      </p:sp>
      <p:sp>
        <p:nvSpPr>
          <p:cNvPr id="18" name="Text 13"/>
          <p:cNvSpPr txBox="1"/>
          <p:nvPr/>
        </p:nvSpPr>
        <p:spPr>
          <a:xfrm>
            <a:off x="8549640" y="44348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64748B"/>
                </a:solidFill>
              </a:rPr>
              <a:t>Create lasting value for customers, communities, and stakeholders worldwide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515600" y="-1371600"/>
            <a:ext cx="2743200" cy="2743200"/>
          </a:xfrm>
          <a:prstGeom prst="ellipse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371600" y="5486400"/>
            <a:ext cx="2286000" cy="2286000"/>
          </a:xfrm>
          <a:prstGeom prst="ellipse">
            <a:avLst/>
          </a:prstGeom>
          <a:solidFill>
            <a:srgbClr val="6366F1">
              <a:alpha val="6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45720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Key Metrics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1430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94A3B8"/>
                </a:solidFill>
              </a:rPr>
              <a:t>Performance highlights driving our growth trajectory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011680"/>
            <a:ext cx="2651760" cy="4114800"/>
          </a:xfrm>
          <a:prstGeom prst="roundRect">
            <a:avLst>
              <a:gd name="adj" fmla="val 5172"/>
            </a:avLst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1620000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68680" y="2377440"/>
            <a:ext cx="594360" cy="594360"/>
          </a:xfrm>
          <a:prstGeom prst="ellipse">
            <a:avLst/>
          </a:prstGeom>
          <a:solidFill>
            <a:srgbClr val="10B981">
              <a:alpha val="25000"/>
            </a:srgbClr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2496312"/>
            <a:ext cx="356616" cy="35661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68680" y="324612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$24.8M</a:t>
            </a:r>
            <a:endParaRPr lang="en-US" sz="44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41148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Annual Revenue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45720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0B981"/>
                </a:solidFill>
              </a:rPr>
              <a:t>+32% YoY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3474720" y="2011680"/>
            <a:ext cx="2651760" cy="4114800"/>
          </a:xfrm>
          <a:prstGeom prst="roundRect">
            <a:avLst>
              <a:gd name="adj" fmla="val 5172"/>
            </a:avLst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16200000">
              <a:srgbClr val="000000">
                <a:alpha val="2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794760" y="2377440"/>
            <a:ext cx="594360" cy="594360"/>
          </a:xfrm>
          <a:prstGeom prst="ellipse">
            <a:avLst/>
          </a:prstGeom>
          <a:solidFill>
            <a:srgbClr val="EC4899">
              <a:alpha val="25000"/>
            </a:srgbClr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13632" y="2496312"/>
            <a:ext cx="356616" cy="356616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3794760" y="324612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1.2M</a:t>
            </a:r>
            <a:endParaRPr lang="en-US" sz="4400" dirty="0"/>
          </a:p>
        </p:txBody>
      </p:sp>
      <p:sp>
        <p:nvSpPr>
          <p:cNvPr id="16" name="Text 12"/>
          <p:cNvSpPr txBox="1"/>
          <p:nvPr/>
        </p:nvSpPr>
        <p:spPr>
          <a:xfrm>
            <a:off x="3794760" y="41148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Active Users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3794760" y="45720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C4899"/>
                </a:solidFill>
              </a:rPr>
              <a:t>+58% YoY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400800" y="2011680"/>
            <a:ext cx="2651760" cy="4114800"/>
          </a:xfrm>
          <a:prstGeom prst="roundRect">
            <a:avLst>
              <a:gd name="adj" fmla="val 5172"/>
            </a:avLst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16200000">
              <a:srgbClr val="000000">
                <a:alpha val="20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720840" y="2377440"/>
            <a:ext cx="594360" cy="594360"/>
          </a:xfrm>
          <a:prstGeom prst="ellipse">
            <a:avLst/>
          </a:prstGeom>
          <a:solidFill>
            <a:srgbClr val="3B82F6">
              <a:alpha val="25000"/>
            </a:srgbClr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9712" y="2496312"/>
            <a:ext cx="356616" cy="356616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6720840" y="324612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98.7%</a:t>
            </a:r>
            <a:endParaRPr lang="en-US" sz="4400" dirty="0"/>
          </a:p>
        </p:txBody>
      </p:sp>
      <p:sp>
        <p:nvSpPr>
          <p:cNvPr id="22" name="Text 17"/>
          <p:cNvSpPr txBox="1"/>
          <p:nvPr/>
        </p:nvSpPr>
        <p:spPr>
          <a:xfrm>
            <a:off x="6720840" y="41148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Uptime SLA</a:t>
            </a:r>
            <a:endParaRPr lang="en-US" sz="1400" dirty="0"/>
          </a:p>
        </p:txBody>
      </p:sp>
      <p:sp>
        <p:nvSpPr>
          <p:cNvPr id="23" name="Text 18"/>
          <p:cNvSpPr txBox="1"/>
          <p:nvPr/>
        </p:nvSpPr>
        <p:spPr>
          <a:xfrm>
            <a:off x="6720840" y="45720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B82F6"/>
                </a:solidFill>
              </a:rPr>
              <a:t>Industry Leading</a:t>
            </a:r>
            <a:endParaRPr lang="en-US" sz="1300" dirty="0"/>
          </a:p>
        </p:txBody>
      </p:sp>
      <p:sp>
        <p:nvSpPr>
          <p:cNvPr id="24" name="Shape 19"/>
          <p:cNvSpPr/>
          <p:nvPr/>
        </p:nvSpPr>
        <p:spPr>
          <a:xfrm>
            <a:off x="9326880" y="2011680"/>
            <a:ext cx="2651760" cy="4114800"/>
          </a:xfrm>
          <a:prstGeom prst="roundRect">
            <a:avLst>
              <a:gd name="adj" fmla="val 5172"/>
            </a:avLst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16200000">
              <a:srgbClr val="000000">
                <a:alpha val="20000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9646920" y="2377440"/>
            <a:ext cx="594360" cy="594360"/>
          </a:xfrm>
          <a:prstGeom prst="ellipse">
            <a:avLst/>
          </a:prstGeom>
          <a:solidFill>
            <a:srgbClr val="F59E0B">
              <a:alpha val="25000"/>
            </a:srgbClr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65792" y="2496312"/>
            <a:ext cx="356616" cy="356616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9646920" y="324612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4.9/5</a:t>
            </a:r>
            <a:endParaRPr lang="en-US" sz="4400" dirty="0"/>
          </a:p>
        </p:txBody>
      </p:sp>
      <p:sp>
        <p:nvSpPr>
          <p:cNvPr id="28" name="Text 22"/>
          <p:cNvSpPr txBox="1"/>
          <p:nvPr/>
        </p:nvSpPr>
        <p:spPr>
          <a:xfrm>
            <a:off x="9646920" y="41148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Customer Rating</a:t>
            </a:r>
            <a:endParaRPr lang="en-US" sz="1400" dirty="0"/>
          </a:p>
        </p:txBody>
      </p:sp>
      <p:sp>
        <p:nvSpPr>
          <p:cNvPr id="29" name="Text 23"/>
          <p:cNvSpPr txBox="1"/>
          <p:nvPr/>
        </p:nvSpPr>
        <p:spPr>
          <a:xfrm>
            <a:off x="9646920" y="45720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9E0B"/>
                </a:solidFill>
              </a:rPr>
              <a:t>NPS: 78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E293B"/>
                </a:solidFill>
              </a:rPr>
              <a:t>Market Opportunity</a:t>
            </a:r>
            <a:endParaRPr lang="en-US" sz="4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371600"/>
          <a:ext cx="713232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8046720" y="1828800"/>
            <a:ext cx="3566160" cy="1188720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/>
          <a:effectLst>
            <a:outerShdw sx="100000" sy="100000" kx="0" ky="0" algn="bl" rotWithShape="0" blurRad="127000" dist="38100" dir="16200000">
              <a:srgbClr val="000000">
                <a:alpha val="7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8321040" y="2057400"/>
            <a:ext cx="502920" cy="502920"/>
          </a:xfrm>
          <a:prstGeom prst="ellipse">
            <a:avLst/>
          </a:prstGeom>
          <a:solidFill>
            <a:srgbClr val="6366F1">
              <a:alpha val="15000"/>
            </a:srgbClr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21624" y="2157984"/>
            <a:ext cx="301752" cy="30175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961120" y="201168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E293B"/>
                </a:solidFill>
              </a:rPr>
              <a:t>2.5x market expansion expected by 2027</a:t>
            </a:r>
            <a:endParaRPr lang="en-US" sz="1300" dirty="0"/>
          </a:p>
        </p:txBody>
      </p:sp>
      <p:sp>
        <p:nvSpPr>
          <p:cNvPr id="8" name="Shape 4"/>
          <p:cNvSpPr/>
          <p:nvPr/>
        </p:nvSpPr>
        <p:spPr>
          <a:xfrm>
            <a:off x="8046720" y="3383280"/>
            <a:ext cx="3566160" cy="1188720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/>
          <a:effectLst>
            <a:outerShdw sx="100000" sy="100000" kx="0" ky="0" algn="bl" rotWithShape="0" blurRad="127000" dist="38100" dir="16200000">
              <a:srgbClr val="000000">
                <a:alpha val="7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8321040" y="3611880"/>
            <a:ext cx="502920" cy="502920"/>
          </a:xfrm>
          <a:prstGeom prst="ellipse">
            <a:avLst/>
          </a:prstGeom>
          <a:solidFill>
            <a:srgbClr val="6366F1">
              <a:alpha val="15000"/>
            </a:srgbClr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1624" y="3712464"/>
            <a:ext cx="301752" cy="301752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961120" y="356616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E293B"/>
                </a:solidFill>
              </a:rPr>
              <a:t>Compound annual growth rate of 35%</a:t>
            </a:r>
            <a:endParaRPr lang="en-US" sz="1300" dirty="0"/>
          </a:p>
        </p:txBody>
      </p:sp>
      <p:sp>
        <p:nvSpPr>
          <p:cNvPr id="12" name="Shape 7"/>
          <p:cNvSpPr/>
          <p:nvPr/>
        </p:nvSpPr>
        <p:spPr>
          <a:xfrm>
            <a:off x="8046720" y="4937760"/>
            <a:ext cx="3566160" cy="1188720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/>
          <a:effectLst>
            <a:outerShdw sx="100000" sy="100000" kx="0" ky="0" algn="bl" rotWithShape="0" blurRad="127000" dist="38100" dir="16200000">
              <a:srgbClr val="000000">
                <a:alpha val="7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8321040" y="5166360"/>
            <a:ext cx="502920" cy="502920"/>
          </a:xfrm>
          <a:prstGeom prst="ellipse">
            <a:avLst/>
          </a:prstGeom>
          <a:solidFill>
            <a:srgbClr val="6366F1">
              <a:alpha val="15000"/>
            </a:srgbClr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21624" y="5266944"/>
            <a:ext cx="301752" cy="301752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8961120" y="512064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E293B"/>
                </a:solidFill>
              </a:rPr>
              <a:t>Expanding into 12 new regional markets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E293B"/>
                </a:solidFill>
              </a:rPr>
              <a:t>Strategic Pillars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97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64748B"/>
                </a:solidFill>
              </a:rPr>
              <a:t>Four focus areas powering our next phase of growth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828800"/>
            <a:ext cx="5212080" cy="2148840"/>
          </a:xfrm>
          <a:prstGeom prst="roundRect">
            <a:avLst>
              <a:gd name="adj" fmla="val 6383"/>
            </a:avLst>
          </a:prstGeom>
          <a:solidFill>
            <a:srgbClr val="F1F5F9"/>
          </a:solidFill>
          <a:ln/>
          <a:effectLst>
            <a:outerShdw sx="100000" sy="100000" kx="0" ky="0" algn="bl" rotWithShape="0" blurRad="127000" dist="38100" dir="16200000">
              <a:srgbClr val="00000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51560" y="2148840"/>
            <a:ext cx="640080" cy="640080"/>
          </a:xfrm>
          <a:prstGeom prst="ellipse">
            <a:avLst/>
          </a:prstGeom>
          <a:solidFill>
            <a:srgbClr val="6366F1">
              <a:alpha val="18000"/>
            </a:srgbClr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9576" y="2276856"/>
            <a:ext cx="384048" cy="38404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920240" y="2176272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293B"/>
                </a:solidFill>
              </a:rPr>
              <a:t>AI-First Products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1051560" y="288036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Embed intelligent automation across our product suite to deliver 10x productivity gains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309360" y="1828800"/>
            <a:ext cx="5212080" cy="2148840"/>
          </a:xfrm>
          <a:prstGeom prst="roundRect">
            <a:avLst>
              <a:gd name="adj" fmla="val 6383"/>
            </a:avLst>
          </a:prstGeom>
          <a:solidFill>
            <a:srgbClr val="F1F5F9"/>
          </a:solidFill>
          <a:ln/>
          <a:effectLst>
            <a:outerShdw sx="100000" sy="100000" kx="0" ky="0" algn="bl" rotWithShape="0" blurRad="127000" dist="38100" dir="16200000">
              <a:srgbClr val="000000">
                <a:alpha val="7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629400" y="2148840"/>
            <a:ext cx="640080" cy="640080"/>
          </a:xfrm>
          <a:prstGeom prst="ellipse">
            <a:avLst/>
          </a:prstGeom>
          <a:solidFill>
            <a:srgbClr val="3B82F6">
              <a:alpha val="18000"/>
            </a:srgbClr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7416" y="2276856"/>
            <a:ext cx="384048" cy="38404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498080" y="2176272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293B"/>
                </a:solidFill>
              </a:rPr>
              <a:t>Global Expansion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6629400" y="288036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Enter 12 new markets across APAC and EMEA with localized solutions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731520" y="4251960"/>
            <a:ext cx="5212080" cy="2148840"/>
          </a:xfrm>
          <a:prstGeom prst="roundRect">
            <a:avLst>
              <a:gd name="adj" fmla="val 6383"/>
            </a:avLst>
          </a:prstGeom>
          <a:solidFill>
            <a:srgbClr val="F1F5F9"/>
          </a:solidFill>
          <a:ln/>
          <a:effectLst>
            <a:outerShdw sx="100000" sy="100000" kx="0" ky="0" algn="bl" rotWithShape="0" blurRad="127000" dist="38100" dir="16200000">
              <a:srgbClr val="000000">
                <a:alpha val="7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1051560" y="4572000"/>
            <a:ext cx="640080" cy="640080"/>
          </a:xfrm>
          <a:prstGeom prst="ellipse">
            <a:avLst/>
          </a:prstGeom>
          <a:solidFill>
            <a:srgbClr val="EC4899">
              <a:alpha val="18000"/>
            </a:srgbClr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9576" y="4700016"/>
            <a:ext cx="384048" cy="384048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920240" y="4599432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293B"/>
                </a:solidFill>
              </a:rPr>
              <a:t>Customer Success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1051560" y="530352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Build world-class support programs that drive adoption and reduce churn below 3%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6309360" y="4251960"/>
            <a:ext cx="5212080" cy="2148840"/>
          </a:xfrm>
          <a:prstGeom prst="roundRect">
            <a:avLst>
              <a:gd name="adj" fmla="val 6383"/>
            </a:avLst>
          </a:prstGeom>
          <a:solidFill>
            <a:srgbClr val="F1F5F9"/>
          </a:solidFill>
          <a:ln/>
          <a:effectLst>
            <a:outerShdw sx="100000" sy="100000" kx="0" ky="0" algn="bl" rotWithShape="0" blurRad="127000" dist="38100" dir="16200000">
              <a:srgbClr val="000000">
                <a:alpha val="7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629400" y="4572000"/>
            <a:ext cx="640080" cy="640080"/>
          </a:xfrm>
          <a:prstGeom prst="ellipse">
            <a:avLst/>
          </a:prstGeom>
          <a:solidFill>
            <a:srgbClr val="10B981">
              <a:alpha val="18000"/>
            </a:srgbClr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7416" y="4700016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498080" y="4599432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293B"/>
                </a:solidFill>
              </a:rPr>
              <a:t>Platform Security</a:t>
            </a:r>
            <a:endParaRPr lang="en-US" sz="2000" dirty="0"/>
          </a:p>
        </p:txBody>
      </p:sp>
      <p:sp>
        <p:nvSpPr>
          <p:cNvPr id="23" name="Text 17"/>
          <p:cNvSpPr txBox="1"/>
          <p:nvPr/>
        </p:nvSpPr>
        <p:spPr>
          <a:xfrm>
            <a:off x="6629400" y="530352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Achieve SOC 2 Type II and ISO 27001 while maintaining industry-leading uptime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E293B"/>
                </a:solidFill>
              </a:rPr>
              <a:t>Growth Roadmap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463040" y="2331720"/>
            <a:ext cx="9235440" cy="0"/>
          </a:xfrm>
          <a:prstGeom prst="line">
            <a:avLst/>
          </a:prstGeom>
          <a:noFill/>
          <a:ln w="3175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417320" y="2057400"/>
            <a:ext cx="502920" cy="502920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4173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366F1"/>
                </a:solidFill>
              </a:rPr>
              <a:t>Q1 2027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880360"/>
            <a:ext cx="2651760" cy="3383280"/>
          </a:xfrm>
          <a:prstGeom prst="roundRect">
            <a:avLst>
              <a:gd name="adj" fmla="val 5172"/>
            </a:avLst>
          </a:prstGeom>
          <a:solidFill>
            <a:srgbClr val="F1F5F9"/>
          </a:solidFill>
          <a:ln/>
          <a:effectLst>
            <a:outerShdw sx="100000" sy="100000" kx="0" ky="0" algn="bl" rotWithShape="0" blurRad="127000" dist="38100" dir="16200000">
              <a:srgbClr val="000000">
                <a:alpha val="7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3108960"/>
            <a:ext cx="502920" cy="502920"/>
          </a:xfrm>
          <a:prstGeom prst="ellipse">
            <a:avLst/>
          </a:prstGeom>
          <a:solidFill>
            <a:srgbClr val="6366F1">
              <a:alpha val="18000"/>
            </a:srgbClr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" y="3209544"/>
            <a:ext cx="301752" cy="30175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554480" y="312724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93B"/>
                </a:solidFill>
              </a:rPr>
              <a:t>Foundation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3794760"/>
            <a:ext cx="21031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</a:rPr>
              <a:t>AI engine v2 launch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</a:rPr>
              <a:t>APAC market entry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</a:rPr>
              <a:t>SOC 2 Type II audit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297680" y="2057400"/>
            <a:ext cx="502920" cy="50292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3520440" y="14173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B5CF6"/>
                </a:solidFill>
              </a:rPr>
              <a:t>Q2 2027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3520440" y="2880360"/>
            <a:ext cx="2651760" cy="3383280"/>
          </a:xfrm>
          <a:prstGeom prst="roundRect">
            <a:avLst>
              <a:gd name="adj" fmla="val 5172"/>
            </a:avLst>
          </a:prstGeom>
          <a:solidFill>
            <a:srgbClr val="F1F5F9"/>
          </a:solidFill>
          <a:ln/>
          <a:effectLst>
            <a:outerShdw sx="100000" sy="100000" kx="0" ky="0" algn="bl" rotWithShape="0" blurRad="127000" dist="38100" dir="16200000">
              <a:srgbClr val="000000">
                <a:alpha val="7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3794760" y="3108960"/>
            <a:ext cx="502920" cy="502920"/>
          </a:xfrm>
          <a:prstGeom prst="ellipse">
            <a:avLst/>
          </a:prstGeom>
          <a:solidFill>
            <a:srgbClr val="8B5CF6">
              <a:alpha val="18000"/>
            </a:srgbClr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95344" y="3209544"/>
            <a:ext cx="301752" cy="301752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4434840" y="312724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93B"/>
                </a:solidFill>
              </a:rPr>
              <a:t>Acceleration</a:t>
            </a:r>
            <a:endParaRPr lang="en-US" sz="1800" dirty="0"/>
          </a:p>
        </p:txBody>
      </p:sp>
      <p:sp>
        <p:nvSpPr>
          <p:cNvPr id="17" name="Text 13"/>
          <p:cNvSpPr txBox="1"/>
          <p:nvPr/>
        </p:nvSpPr>
        <p:spPr>
          <a:xfrm>
            <a:off x="3794760" y="3794760"/>
            <a:ext cx="21031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</a:rPr>
              <a:t>Enterprise tier release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</a:rPr>
              <a:t>EMEA partnerships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</a:rPr>
              <a:t>Mobile app launch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7178040" y="2057400"/>
            <a:ext cx="502920" cy="50292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6400800" y="14173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B981"/>
                </a:solidFill>
              </a:rPr>
              <a:t>Q3 2027</a:t>
            </a:r>
            <a:endParaRPr lang="en-US" sz="1300" dirty="0"/>
          </a:p>
        </p:txBody>
      </p:sp>
      <p:sp>
        <p:nvSpPr>
          <p:cNvPr id="20" name="Shape 16"/>
          <p:cNvSpPr/>
          <p:nvPr/>
        </p:nvSpPr>
        <p:spPr>
          <a:xfrm>
            <a:off x="6400800" y="2880360"/>
            <a:ext cx="2651760" cy="3383280"/>
          </a:xfrm>
          <a:prstGeom prst="roundRect">
            <a:avLst>
              <a:gd name="adj" fmla="val 5172"/>
            </a:avLst>
          </a:prstGeom>
          <a:solidFill>
            <a:srgbClr val="F1F5F9"/>
          </a:solidFill>
          <a:ln/>
          <a:effectLst>
            <a:outerShdw sx="100000" sy="100000" kx="0" ky="0" algn="bl" rotWithShape="0" blurRad="127000" dist="38100" dir="16200000">
              <a:srgbClr val="000000">
                <a:alpha val="7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6675120" y="3108960"/>
            <a:ext cx="502920" cy="502920"/>
          </a:xfrm>
          <a:prstGeom prst="ellipse">
            <a:avLst/>
          </a:prstGeom>
          <a:solidFill>
            <a:srgbClr val="10B981">
              <a:alpha val="18000"/>
            </a:srgbClr>
          </a:solidFill>
          <a:ln/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5704" y="3209544"/>
            <a:ext cx="301752" cy="301752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7315200" y="312724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93B"/>
                </a:solidFill>
              </a:rPr>
              <a:t>Scale</a:t>
            </a:r>
            <a:endParaRPr lang="en-US" sz="1800" dirty="0"/>
          </a:p>
        </p:txBody>
      </p:sp>
      <p:sp>
        <p:nvSpPr>
          <p:cNvPr id="24" name="Text 19"/>
          <p:cNvSpPr txBox="1"/>
          <p:nvPr/>
        </p:nvSpPr>
        <p:spPr>
          <a:xfrm>
            <a:off x="6675120" y="3794760"/>
            <a:ext cx="21031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</a:rPr>
              <a:t>1M+ active users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</a:rPr>
              <a:t>API marketplace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</a:rPr>
              <a:t>ISO 27001 cert</a:t>
            </a:r>
            <a:endParaRPr lang="en-US" sz="1200" dirty="0"/>
          </a:p>
        </p:txBody>
      </p:sp>
      <p:sp>
        <p:nvSpPr>
          <p:cNvPr id="25" name="Shape 20"/>
          <p:cNvSpPr/>
          <p:nvPr/>
        </p:nvSpPr>
        <p:spPr>
          <a:xfrm>
            <a:off x="10058400" y="2057400"/>
            <a:ext cx="502920" cy="50292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6" name="Text 21"/>
          <p:cNvSpPr txBox="1"/>
          <p:nvPr/>
        </p:nvSpPr>
        <p:spPr>
          <a:xfrm>
            <a:off x="9281160" y="14173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9E0B"/>
                </a:solidFill>
              </a:rPr>
              <a:t>Q4 2027</a:t>
            </a:r>
            <a:endParaRPr lang="en-US" sz="1300" dirty="0"/>
          </a:p>
        </p:txBody>
      </p:sp>
      <p:sp>
        <p:nvSpPr>
          <p:cNvPr id="27" name="Shape 22"/>
          <p:cNvSpPr/>
          <p:nvPr/>
        </p:nvSpPr>
        <p:spPr>
          <a:xfrm>
            <a:off x="9281160" y="2880360"/>
            <a:ext cx="2651760" cy="3383280"/>
          </a:xfrm>
          <a:prstGeom prst="roundRect">
            <a:avLst>
              <a:gd name="adj" fmla="val 5172"/>
            </a:avLst>
          </a:prstGeom>
          <a:solidFill>
            <a:srgbClr val="F1F5F9"/>
          </a:solidFill>
          <a:ln/>
          <a:effectLst>
            <a:outerShdw sx="100000" sy="100000" kx="0" ky="0" algn="bl" rotWithShape="0" blurRad="127000" dist="38100" dir="16200000">
              <a:srgbClr val="000000">
                <a:alpha val="7000"/>
              </a:srgbClr>
            </a:outerShdw>
          </a:effectLst>
        </p:spPr>
      </p:sp>
      <p:sp>
        <p:nvSpPr>
          <p:cNvPr id="28" name="Shape 23"/>
          <p:cNvSpPr/>
          <p:nvPr/>
        </p:nvSpPr>
        <p:spPr>
          <a:xfrm>
            <a:off x="9555480" y="3108960"/>
            <a:ext cx="502920" cy="502920"/>
          </a:xfrm>
          <a:prstGeom prst="ellipse">
            <a:avLst/>
          </a:prstGeom>
          <a:solidFill>
            <a:srgbClr val="F59E0B">
              <a:alpha val="18000"/>
            </a:srgbClr>
          </a:solidFill>
          <a:ln/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56064" y="3209544"/>
            <a:ext cx="301752" cy="301752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10195560" y="312724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93B"/>
                </a:solidFill>
              </a:rPr>
              <a:t>Dominate</a:t>
            </a:r>
            <a:endParaRPr lang="en-US" sz="1800" dirty="0"/>
          </a:p>
        </p:txBody>
      </p:sp>
      <p:sp>
        <p:nvSpPr>
          <p:cNvPr id="31" name="Text 25"/>
          <p:cNvSpPr txBox="1"/>
          <p:nvPr/>
        </p:nvSpPr>
        <p:spPr>
          <a:xfrm>
            <a:off x="9555480" y="3794760"/>
            <a:ext cx="21031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</a:rPr>
              <a:t>$25M ARR target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</a:rPr>
              <a:t>Series C preparation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</a:rPr>
              <a:t>Platform ecosystem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E293B"/>
                </a:solidFill>
              </a:rPr>
              <a:t>Quarterly Performance</a:t>
            </a:r>
            <a:endParaRPr lang="en-US" sz="4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371600"/>
          <a:ext cx="713232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8046720" y="1645920"/>
            <a:ext cx="3566160" cy="13716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127000" dist="38100" dir="16200000">
              <a:srgbClr val="000000">
                <a:alpha val="7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8366760" y="1965960"/>
            <a:ext cx="502920" cy="502920"/>
          </a:xfrm>
          <a:prstGeom prst="ellipse">
            <a:avLst/>
          </a:prstGeom>
          <a:solidFill>
            <a:srgbClr val="10B981">
              <a:alpha val="18000"/>
            </a:srgbClr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7344" y="2066544"/>
            <a:ext cx="301752" cy="30175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006840" y="17830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93B"/>
                </a:solidFill>
              </a:rPr>
              <a:t>88%</a:t>
            </a:r>
            <a:endParaRPr lang="en-US" sz="3000" dirty="0"/>
          </a:p>
        </p:txBody>
      </p:sp>
      <p:sp>
        <p:nvSpPr>
          <p:cNvPr id="8" name="Text 4"/>
          <p:cNvSpPr txBox="1"/>
          <p:nvPr/>
        </p:nvSpPr>
        <p:spPr>
          <a:xfrm>
            <a:off x="9006840" y="23317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Revenue Growth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8046720" y="3337560"/>
            <a:ext cx="3566160" cy="13716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127000" dist="38100" dir="16200000">
              <a:srgbClr val="000000">
                <a:alpha val="7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8366760" y="3657600"/>
            <a:ext cx="502920" cy="502920"/>
          </a:xfrm>
          <a:prstGeom prst="ellipse">
            <a:avLst/>
          </a:prstGeom>
          <a:solidFill>
            <a:srgbClr val="F59E0B">
              <a:alpha val="18000"/>
            </a:srgbClr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7344" y="3758184"/>
            <a:ext cx="301752" cy="30175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9006840" y="347472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93B"/>
                </a:solidFill>
              </a:rPr>
              <a:t>240+</a:t>
            </a:r>
            <a:endParaRPr lang="en-US" sz="3000" dirty="0"/>
          </a:p>
        </p:txBody>
      </p:sp>
      <p:sp>
        <p:nvSpPr>
          <p:cNvPr id="13" name="Text 8"/>
          <p:cNvSpPr txBox="1"/>
          <p:nvPr/>
        </p:nvSpPr>
        <p:spPr>
          <a:xfrm>
            <a:off x="9006840" y="40233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Enterprise Clients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8046720" y="5029200"/>
            <a:ext cx="3566160" cy="13716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127000" dist="38100" dir="16200000">
              <a:srgbClr val="000000">
                <a:alpha val="7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8366760" y="5349240"/>
            <a:ext cx="502920" cy="502920"/>
          </a:xfrm>
          <a:prstGeom prst="ellipse">
            <a:avLst/>
          </a:prstGeom>
          <a:solidFill>
            <a:srgbClr val="3B82F6">
              <a:alpha val="18000"/>
            </a:srgbClr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67344" y="5449824"/>
            <a:ext cx="301752" cy="301752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9006840" y="516636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93B"/>
                </a:solidFill>
              </a:rPr>
              <a:t>12</a:t>
            </a:r>
            <a:endParaRPr lang="en-US" sz="3000" dirty="0"/>
          </a:p>
        </p:txBody>
      </p:sp>
      <p:sp>
        <p:nvSpPr>
          <p:cNvPr id="18" name="Text 12"/>
          <p:cNvSpPr txBox="1"/>
          <p:nvPr/>
        </p:nvSpPr>
        <p:spPr>
          <a:xfrm>
            <a:off x="9006840" y="5715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Countries Served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515600" y="3657600"/>
            <a:ext cx="3200400" cy="3200400"/>
          </a:xfrm>
          <a:prstGeom prst="ellipse">
            <a:avLst/>
          </a:prstGeom>
          <a:solidFill>
            <a:srgbClr val="6366F1">
              <a:alpha val="6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371600" y="-457200"/>
            <a:ext cx="2286000" cy="2286000"/>
          </a:xfrm>
          <a:prstGeom prst="ellipse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45720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Next Steps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1430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94A3B8"/>
                </a:solidFill>
              </a:rPr>
              <a:t>Immediate actions to drive our strategy forward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" y="1920240"/>
            <a:ext cx="10058400" cy="1005840"/>
          </a:xfrm>
          <a:prstGeom prst="roundRect">
            <a:avLst>
              <a:gd name="adj" fmla="val 13636"/>
            </a:avLst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1620000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005840" y="2103120"/>
            <a:ext cx="594360" cy="594360"/>
          </a:xfrm>
          <a:prstGeom prst="roundRect">
            <a:avLst>
              <a:gd name="adj" fmla="val 15385"/>
            </a:avLst>
          </a:prstGeom>
          <a:solidFill>
            <a:srgbClr val="6366F1">
              <a:alpha val="25000"/>
            </a:srgb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05840" y="21031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</a:rPr>
              <a:t>01</a:t>
            </a:r>
            <a:endParaRPr lang="en-US" sz="1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20240" y="2148840"/>
            <a:ext cx="457200" cy="45720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2606040" y="202996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Finalize AI Engine Architecture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2606040" y="242316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Complete technical design review and allocate engineering resources for Q1 sprint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31520" y="3108960"/>
            <a:ext cx="10058400" cy="1005840"/>
          </a:xfrm>
          <a:prstGeom prst="roundRect">
            <a:avLst>
              <a:gd name="adj" fmla="val 13636"/>
            </a:avLst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16200000">
              <a:srgbClr val="000000">
                <a:alpha val="2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1005840" y="3291840"/>
            <a:ext cx="594360" cy="594360"/>
          </a:xfrm>
          <a:prstGeom prst="roundRect">
            <a:avLst>
              <a:gd name="adj" fmla="val 15385"/>
            </a:avLst>
          </a:prstGeom>
          <a:solidFill>
            <a:srgbClr val="3B82F6">
              <a:alpha val="25000"/>
            </a:srgbClr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1005840" y="32918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B82F6"/>
                </a:solidFill>
              </a:rPr>
              <a:t>02</a:t>
            </a:r>
            <a:endParaRPr lang="en-US" sz="1800" dirty="0"/>
          </a:p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3337560"/>
            <a:ext cx="457200" cy="45720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2606040" y="321868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Launch APAC Go-To-Market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2606040" y="361188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Hire regional leads in Singapore and Tokyo, finalize partnership agreements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731520" y="4297680"/>
            <a:ext cx="10058400" cy="1005840"/>
          </a:xfrm>
          <a:prstGeom prst="roundRect">
            <a:avLst>
              <a:gd name="adj" fmla="val 13636"/>
            </a:avLst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16200000">
              <a:srgbClr val="000000">
                <a:alpha val="20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1005840" y="4480560"/>
            <a:ext cx="594360" cy="594360"/>
          </a:xfrm>
          <a:prstGeom prst="roundRect">
            <a:avLst>
              <a:gd name="adj" fmla="val 15385"/>
            </a:avLst>
          </a:prstGeom>
          <a:solidFill>
            <a:srgbClr val="EC4899">
              <a:alpha val="25000"/>
            </a:srgbClr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1005840" y="44805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C4899"/>
                </a:solidFill>
              </a:rPr>
              <a:t>03</a:t>
            </a:r>
            <a:endParaRPr lang="en-US" sz="1800" dirty="0"/>
          </a:p>
        </p:txBody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26280"/>
            <a:ext cx="457200" cy="45720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2606040" y="440740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Scale Customer Success Team</a:t>
            </a:r>
            <a:endParaRPr lang="en-US" sz="1600" dirty="0"/>
          </a:p>
        </p:txBody>
      </p:sp>
      <p:sp>
        <p:nvSpPr>
          <p:cNvPr id="23" name="Text 18"/>
          <p:cNvSpPr txBox="1"/>
          <p:nvPr/>
        </p:nvSpPr>
        <p:spPr>
          <a:xfrm>
            <a:off x="2606040" y="480060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Recruit 15 customer success managers and deploy automated onboarding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731520" y="5486400"/>
            <a:ext cx="10058400" cy="1005840"/>
          </a:xfrm>
          <a:prstGeom prst="roundRect">
            <a:avLst>
              <a:gd name="adj" fmla="val 13636"/>
            </a:avLst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16200000">
              <a:srgbClr val="000000">
                <a:alpha val="20000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1005840" y="5669280"/>
            <a:ext cx="594360" cy="594360"/>
          </a:xfrm>
          <a:prstGeom prst="roundRect">
            <a:avLst>
              <a:gd name="adj" fmla="val 15385"/>
            </a:avLst>
          </a:prstGeom>
          <a:solidFill>
            <a:srgbClr val="F59E0B">
              <a:alpha val="25000"/>
            </a:srgbClr>
          </a:solidFill>
          <a:ln/>
        </p:spPr>
      </p:sp>
      <p:sp>
        <p:nvSpPr>
          <p:cNvPr id="26" name="Text 21"/>
          <p:cNvSpPr txBox="1"/>
          <p:nvPr/>
        </p:nvSpPr>
        <p:spPr>
          <a:xfrm>
            <a:off x="1005840" y="56692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9E0B"/>
                </a:solidFill>
              </a:rPr>
              <a:t>04</a:t>
            </a:r>
            <a:endParaRPr lang="en-US" sz="1800" dirty="0"/>
          </a:p>
        </p:txBody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20240" y="5715000"/>
            <a:ext cx="457200" cy="457200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2606040" y="559612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Prepare Series C Materials</a:t>
            </a:r>
            <a:endParaRPr lang="en-US" sz="1600" dirty="0"/>
          </a:p>
        </p:txBody>
      </p:sp>
      <p:sp>
        <p:nvSpPr>
          <p:cNvPr id="29" name="Text 23"/>
          <p:cNvSpPr txBox="1"/>
          <p:nvPr/>
        </p:nvSpPr>
        <p:spPr>
          <a:xfrm>
            <a:off x="2606040" y="598932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Engage investment bankers and prepare data room with growth projections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5029200" cy="5029200"/>
          </a:xfrm>
          <a:prstGeom prst="ellipse">
            <a:avLst/>
          </a:prstGeom>
          <a:solidFill>
            <a:srgbClr val="6366F1">
              <a:alpha val="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686800" y="3657600"/>
            <a:ext cx="4114800" cy="4114800"/>
          </a:xfrm>
          <a:prstGeom prst="ellipse">
            <a:avLst/>
          </a:prstGeom>
          <a:solidFill>
            <a:srgbClr val="8B5CF6">
              <a:alpha val="7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972800" y="-1371600"/>
            <a:ext cx="2560320" cy="2560320"/>
          </a:xfrm>
          <a:prstGeom prst="ellipse">
            <a:avLst/>
          </a:prstGeom>
          <a:solidFill>
            <a:srgbClr val="F59E0B">
              <a:alpha val="6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-1371600" y="5486400"/>
            <a:ext cx="2286000" cy="2286000"/>
          </a:xfrm>
          <a:prstGeom prst="ellipse">
            <a:avLst/>
          </a:prstGeom>
          <a:solidFill>
            <a:srgbClr val="EC4899">
              <a:alpha val="6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0" y="-1828800"/>
            <a:ext cx="2286000" cy="2286000"/>
          </a:xfrm>
          <a:prstGeom prst="ellipse">
            <a:avLst/>
          </a:prstGeom>
          <a:solidFill>
            <a:srgbClr val="3B82F6">
              <a:alpha val="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201168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FFFFF"/>
                </a:solidFill>
              </a:rPr>
              <a:t>Thank You</a:t>
            </a:r>
            <a:endParaRPr lang="en-US" sz="64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29184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94A3B8"/>
                </a:solidFill>
              </a:rPr>
              <a:t>Let's build the future together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4114800" y="4754880"/>
            <a:ext cx="365760" cy="365760"/>
          </a:xfrm>
          <a:prstGeom prst="ellipse">
            <a:avLst/>
          </a:prstGeom>
          <a:solidFill>
            <a:srgbClr val="6366F1">
              <a:alpha val="30000"/>
            </a:srgbClr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87952" y="482803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4617720" y="47548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94A3B8"/>
                </a:solidFill>
              </a:rPr>
              <a:t>strategy@elevate.io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858000" y="4754880"/>
            <a:ext cx="365760" cy="365760"/>
          </a:xfrm>
          <a:prstGeom prst="ellipse">
            <a:avLst/>
          </a:prstGeom>
          <a:solidFill>
            <a:srgbClr val="3B82F6">
              <a:alpha val="30000"/>
            </a:srgbClr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31152" y="4828032"/>
            <a:ext cx="219456" cy="219456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7360920" y="47548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94A3B8"/>
                </a:solidFill>
              </a:rPr>
              <a:t>elevate.io/vision2027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urora Vision">
  <a:themeElements>
    <a:clrScheme name="Aurora Vision">
      <a:dk1>
        <a:srgbClr val="1E293B"/>
      </a:dk1>
      <a:lt1>
        <a:srgbClr val="FFFFFF"/>
      </a:lt1>
      <a:dk2>
        <a:srgbClr val="64748B"/>
      </a:dk2>
      <a:lt2>
        <a:srgbClr val="F1F5F9"/>
      </a:lt2>
      <a:accent1>
        <a:srgbClr val="6366F1"/>
      </a:accent1>
      <a:accent2>
        <a:srgbClr val="8B5CF6"/>
      </a:accent2>
      <a:accent3>
        <a:srgbClr val="F59E0B"/>
      </a:accent3>
      <a:accent4>
        <a:srgbClr val="10B981"/>
      </a:accent4>
      <a:accent5>
        <a:srgbClr val="EC4899"/>
      </a:accent5>
      <a:accent6>
        <a:srgbClr val="3B82F6"/>
      </a:accent6>
      <a:hlink>
        <a:srgbClr val="6366F1"/>
      </a:hlink>
      <a:folHlink>
        <a:srgbClr val="8B5CF6"/>
      </a:folHlink>
    </a:clrScheme>
    <a:fontScheme name="Aurora Vision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Elevate Inc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Elevate - Strategic Vision &amp; Growth Plan 2027</dc:title>
  <dc:subject>Strategic Vision 2027</dc:subject>
  <dc:creator>Strategic Team</dc:creator>
  <cp:lastModifiedBy>Strategic Team</cp:lastModifiedBy>
  <cp:revision>1</cp:revision>
  <dcterms:created xsi:type="dcterms:W3CDTF">2026-10-25T16:48:10Z</dcterms:created>
  <dcterms:modified xsi:type="dcterms:W3CDTF">2026-10-25T16:48:10Z</dcterms:modified>
</cp:coreProperties>
</file>